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1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1" r:id="rId4"/>
    <p:sldId id="259" r:id="rId5"/>
    <p:sldId id="262" r:id="rId6"/>
    <p:sldId id="266" r:id="rId7"/>
    <p:sldId id="264" r:id="rId8"/>
    <p:sldId id="267" r:id="rId9"/>
    <p:sldId id="260" r:id="rId10"/>
    <p:sldId id="257" r:id="rId11"/>
    <p:sldId id="270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mbria Math" panose="02040503050406030204" pitchFamily="18" charset="0"/>
      <p:regular r:id="rId18"/>
    </p:embeddedFont>
    <p:embeddedFont>
      <p:font typeface="Cormorant Garamond Bold Italics" pitchFamily="2" charset="77"/>
      <p:regular r:id="rId19"/>
      <p:bold r:id="rId20"/>
      <p:italic r:id="rId21"/>
      <p:boldItalic r:id="rId22"/>
    </p:embeddedFont>
    <p:embeddedFont>
      <p:font typeface="Glacial Indifference" pitchFamily="2" charset="0"/>
      <p:regular r:id="rId23"/>
      <p:bold r:id="rId24"/>
      <p:italic r:id="rId25"/>
      <p:boldItalic r:id="rId26"/>
    </p:embeddedFont>
    <p:embeddedFont>
      <p:font typeface="Roboto Mono" panose="020F050202020403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13" autoAdjust="0"/>
    <p:restoredTop sz="94934" autoAdjust="0"/>
  </p:normalViewPr>
  <p:slideViewPr>
    <p:cSldViewPr>
      <p:cViewPr>
        <p:scale>
          <a:sx n="63" d="100"/>
          <a:sy n="63" d="100"/>
        </p:scale>
        <p:origin x="864" y="7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NUL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jpe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746B1-945E-A04B-AEFE-AC3A1CA28E4D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93B71-6466-6740-9C32-0912B825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4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3B71-6466-6740-9C32-0912B82519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9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复杂度是怎么得到的</a:t>
            </a:r>
            <a:r>
              <a:rPr lang="zh-CN" altLang="en-US" dirty="0"/>
              <a:t>？参考文献哪里？</a:t>
            </a:r>
            <a:r>
              <a:rPr lang="en-US" altLang="zh-CN" dirty="0"/>
              <a:t>-&gt;</a:t>
            </a:r>
            <a:r>
              <a:rPr lang="zh-CN" altLang="en-US" dirty="0"/>
              <a:t>老师的手册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3B71-6466-6740-9C32-0912B82519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52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讲述代码逻辑</a:t>
            </a:r>
            <a:endParaRPr lang="en-US" dirty="0"/>
          </a:p>
          <a:p>
            <a:r>
              <a:rPr lang="en-US" dirty="0" err="1"/>
              <a:t>模型大小</a:t>
            </a:r>
            <a:r>
              <a:rPr lang="zh-CN" altLang="en-US"/>
              <a:t>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3B71-6466-6740-9C32-0912B82519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89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公式写成数学公式</a:t>
            </a:r>
            <a:r>
              <a:rPr lang="en-US" dirty="0"/>
              <a:t> done </a:t>
            </a:r>
            <a:endParaRPr lang="en-US" altLang="zh-CN" dirty="0"/>
          </a:p>
          <a:p>
            <a:r>
              <a:rPr lang="zh-CN" altLang="en-US" dirty="0"/>
              <a:t>流程图重新绘制 </a:t>
            </a:r>
            <a:r>
              <a:rPr lang="en-US" altLang="zh-CN" dirty="0"/>
              <a:t>+</a:t>
            </a:r>
            <a:r>
              <a:rPr lang="zh-CN" altLang="en-US" dirty="0"/>
              <a:t> 添加重复</a:t>
            </a:r>
            <a:r>
              <a:rPr lang="en-US" altLang="zh-CN" dirty="0"/>
              <a:t>10</a:t>
            </a:r>
            <a:r>
              <a:rPr lang="zh-CN" altLang="en-US" dirty="0"/>
              <a:t>次的</a:t>
            </a:r>
            <a:r>
              <a:rPr lang="en-US" altLang="zh-CN" dirty="0"/>
              <a:t> done</a:t>
            </a:r>
            <a:endParaRPr lang="en-GB" altLang="zh-CN" dirty="0"/>
          </a:p>
          <a:p>
            <a:r>
              <a:rPr lang="en-US" dirty="0" err="1"/>
              <a:t>Gen_steps</a:t>
            </a:r>
            <a:r>
              <a:rPr lang="en-US" altLang="zh-CN" dirty="0"/>
              <a:t>=50</a:t>
            </a:r>
            <a:r>
              <a:rPr lang="zh-CN" altLang="en-US" dirty="0"/>
              <a:t>？</a:t>
            </a:r>
            <a:r>
              <a:rPr lang="zh-CN" altLang="en-GB" dirty="0"/>
              <a:t>序列长度是做什么的</a:t>
            </a:r>
            <a:r>
              <a:rPr lang="zh-CN" altLang="en-US" dirty="0"/>
              <a:t>？类似于</a:t>
            </a:r>
            <a:r>
              <a:rPr lang="en-US" altLang="zh-CN" dirty="0" err="1"/>
              <a:t>block_size</a:t>
            </a:r>
            <a:r>
              <a:rPr lang="zh-CN" altLang="en-US" dirty="0"/>
              <a:t>嘛？</a:t>
            </a:r>
            <a:endParaRPr lang="en-US" altLang="zh-CN" dirty="0"/>
          </a:p>
          <a:p>
            <a:endParaRPr lang="en-GB" altLang="zh-CN" dirty="0"/>
          </a:p>
          <a:p>
            <a:r>
              <a:rPr lang="zh-CN" altLang="en-US" dirty="0"/>
              <a:t>解释评估指标的含义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3B71-6466-6740-9C32-0912B82519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13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GPT2 </a:t>
            </a:r>
            <a:r>
              <a:rPr lang="en-US" dirty="0" err="1"/>
              <a:t>论文中的数值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3B71-6466-6740-9C32-0912B82519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34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！</a:t>
            </a:r>
            <a:r>
              <a:rPr lang="en-US" dirty="0" err="1"/>
              <a:t>改成累计内存而非peak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3B71-6466-6740-9C32-0912B82519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69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8.svg"/><Relationship Id="rId5" Type="http://schemas.openxmlformats.org/officeDocument/2006/relationships/image" Target="../media/image13.sv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tif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g"/><Relationship Id="rId5" Type="http://schemas.openxmlformats.org/officeDocument/2006/relationships/image" Target="../media/image6.png"/><Relationship Id="rId4" Type="http://schemas.openxmlformats.org/officeDocument/2006/relationships/image" Target="../media/image20.sv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lishafique3/KV-Caching-From-Scratch-Pytorch" TargetMode="External"/><Relationship Id="rId13" Type="http://schemas.openxmlformats.org/officeDocument/2006/relationships/image" Target="../media/image46.jpeg"/><Relationship Id="rId3" Type="http://schemas.openxmlformats.org/officeDocument/2006/relationships/image" Target="../media/image6.png"/><Relationship Id="rId7" Type="http://schemas.openxmlformats.org/officeDocument/2006/relationships/hyperlink" Target="https://github.com/rasbt/LLMs-from-scratch/blob/main/ch04/03_kv-cache/" TargetMode="External"/><Relationship Id="rId12" Type="http://schemas.openxmlformats.org/officeDocument/2006/relationships/image" Target="../media/image45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hyperlink" Target="https://vasudev.bearblog.dev/vision-transformer-1/" TargetMode="External"/><Relationship Id="rId11" Type="http://schemas.openxmlformats.org/officeDocument/2006/relationships/hyperlink" Target="https://discuss.huggingface.co/t/past-key-values-why-not-past-key-values-queries/31941" TargetMode="External"/><Relationship Id="rId5" Type="http://schemas.openxmlformats.org/officeDocument/2006/relationships/hyperlink" Target="https://vasudev.bearblog.dev/" TargetMode="External"/><Relationship Id="rId10" Type="http://schemas.openxmlformats.org/officeDocument/2006/relationships/hyperlink" Target="https://magazine.sebastianraschka.com/p/coding-the-kv-cache-in-llms" TargetMode="External"/><Relationship Id="rId4" Type="http://schemas.openxmlformats.org/officeDocument/2006/relationships/hyperlink" Target="https://medium.com/@alishafique3/kv-caching-from-scratch-pytorch-5743ddcdc176" TargetMode="External"/><Relationship Id="rId9" Type="http://schemas.openxmlformats.org/officeDocument/2006/relationships/hyperlink" Target="https://substack.com/@rasb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9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62206" y="3412638"/>
            <a:ext cx="13563587" cy="2866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507"/>
              </a:lnSpc>
            </a:pPr>
            <a:r>
              <a:rPr lang="en-US" sz="8800" b="1" dirty="0">
                <a:solidFill>
                  <a:srgbClr val="2D3880"/>
                </a:solidFill>
                <a:latin typeface="Helvetica" pitchFamily="2" charset="0"/>
                <a:ea typeface="Cormorant Garamond Italics"/>
                <a:cs typeface="Cormorant Garamond Italics"/>
                <a:sym typeface="Cormorant Garamond Italics"/>
              </a:rPr>
              <a:t>Transformer </a:t>
            </a:r>
            <a:r>
              <a:rPr lang="zh-CN" altLang="en-US" sz="8800" b="1" dirty="0">
                <a:solidFill>
                  <a:srgbClr val="2D3880"/>
                </a:solidFill>
                <a:latin typeface="Helvetica" pitchFamily="2" charset="0"/>
                <a:ea typeface="Cormorant Garamond Italics"/>
                <a:cs typeface="Cormorant Garamond Italics"/>
                <a:sym typeface="Cormorant Garamond Italics"/>
              </a:rPr>
              <a:t>推理中 </a:t>
            </a:r>
            <a:endParaRPr lang="en-GB" altLang="zh-CN" sz="8800" b="1" dirty="0">
              <a:solidFill>
                <a:srgbClr val="2D3880"/>
              </a:solidFill>
              <a:latin typeface="Helvetica" pitchFamily="2" charset="0"/>
              <a:ea typeface="Cormorant Garamond Italics"/>
              <a:cs typeface="Cormorant Garamond Italics"/>
              <a:sym typeface="Cormorant Garamond Italics"/>
            </a:endParaRPr>
          </a:p>
          <a:p>
            <a:pPr marL="0" lvl="0" indent="0" algn="l">
              <a:lnSpc>
                <a:spcPts val="11507"/>
              </a:lnSpc>
            </a:pPr>
            <a:r>
              <a:rPr lang="en-US" sz="8800" b="1" dirty="0">
                <a:solidFill>
                  <a:srgbClr val="2D3880"/>
                </a:solidFill>
                <a:latin typeface="Helvetica" pitchFamily="2" charset="0"/>
                <a:ea typeface="Cormorant Garamond Italics"/>
                <a:cs typeface="Cormorant Garamond Italics"/>
                <a:sym typeface="Cormorant Garamond Italics"/>
              </a:rPr>
              <a:t>KV Cache </a:t>
            </a:r>
            <a:r>
              <a:rPr lang="zh-CN" altLang="en-US" sz="8800" b="1" dirty="0">
                <a:solidFill>
                  <a:srgbClr val="2D3880"/>
                </a:solidFill>
                <a:latin typeface="Helvetica" pitchFamily="2" charset="0"/>
                <a:ea typeface="Cormorant Garamond Italics"/>
                <a:cs typeface="Cormorant Garamond Italics"/>
                <a:sym typeface="Cormorant Garamond Italics"/>
              </a:rPr>
              <a:t>的性能分析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08093" y="6813281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</a:pPr>
            <a:r>
              <a:rPr lang="en-US" sz="3200" dirty="0" err="1">
                <a:solidFill>
                  <a:srgbClr val="2D3880"/>
                </a:solidFill>
                <a:latin typeface="Helvetica" pitchFamily="2" charset="0"/>
                <a:ea typeface="Glacial Indifference"/>
                <a:cs typeface="Glacial Indifference"/>
                <a:sym typeface="Glacial Indifference"/>
              </a:rPr>
              <a:t>计算机</a:t>
            </a:r>
            <a:r>
              <a:rPr lang="en-US" sz="3200" dirty="0">
                <a:solidFill>
                  <a:srgbClr val="2D3880"/>
                </a:solidFill>
                <a:latin typeface="Helvetica" pitchFamily="2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altLang="zh-CN" sz="3200" dirty="0">
                <a:solidFill>
                  <a:srgbClr val="2D3880"/>
                </a:solidFill>
                <a:latin typeface="Helvetica" pitchFamily="2" charset="0"/>
                <a:ea typeface="Glacial Indifference"/>
                <a:cs typeface="Glacial Indifference"/>
                <a:sym typeface="Glacial Indifference"/>
              </a:rPr>
              <a:t>2303</a:t>
            </a:r>
            <a:r>
              <a:rPr lang="zh-CN" altLang="en-US" sz="3200" dirty="0">
                <a:solidFill>
                  <a:srgbClr val="2D3880"/>
                </a:solidFill>
                <a:latin typeface="Helvetica" pitchFamily="2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altLang="zh-CN" sz="3200" dirty="0">
                <a:solidFill>
                  <a:srgbClr val="2D3880"/>
                </a:solidFill>
                <a:latin typeface="Helvetica" pitchFamily="2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zh-CN" altLang="en-US" sz="3200" dirty="0">
                <a:solidFill>
                  <a:srgbClr val="2D3880"/>
                </a:solidFill>
                <a:latin typeface="Helvetica" pitchFamily="2" charset="0"/>
                <a:ea typeface="Glacial Indifference"/>
                <a:cs typeface="Glacial Indifference"/>
                <a:sym typeface="Glacial Indifference"/>
              </a:rPr>
              <a:t>田佳音 </a:t>
            </a:r>
            <a:endParaRPr lang="en-US" sz="3200" dirty="0">
              <a:solidFill>
                <a:srgbClr val="2D3880"/>
              </a:solidFill>
              <a:latin typeface="Helvetica" pitchFamily="2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608093" y="7527376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12</a:t>
            </a: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December, 2025</a:t>
            </a:r>
          </a:p>
        </p:txBody>
      </p:sp>
      <p:sp>
        <p:nvSpPr>
          <p:cNvPr id="10" name="AutoShape 10"/>
          <p:cNvSpPr/>
          <p:nvPr/>
        </p:nvSpPr>
        <p:spPr>
          <a:xfrm flipH="1">
            <a:off x="1925123" y="2221779"/>
            <a:ext cx="0" cy="5843443"/>
          </a:xfrm>
          <a:prstGeom prst="line">
            <a:avLst/>
          </a:prstGeom>
          <a:ln w="57150" cap="flat">
            <a:solidFill>
              <a:srgbClr val="2D388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51E2F3-1A79-FB48-8F98-C742C93B10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032415"/>
            <a:ext cx="4419600" cy="1498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9FAC22-A375-D643-8703-5CAE855328D6}"/>
              </a:ext>
            </a:extLst>
          </p:cNvPr>
          <p:cNvSpPr txBox="1"/>
          <p:nvPr/>
        </p:nvSpPr>
        <p:spPr>
          <a:xfrm>
            <a:off x="2608093" y="8254094"/>
            <a:ext cx="6108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MyWork</a:t>
            </a:r>
            <a:r>
              <a:rPr lang="zh-CN" altLang="en-US" dirty="0"/>
              <a:t>：</a:t>
            </a: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baazinga</a:t>
            </a:r>
            <a:r>
              <a:rPr lang="en-US" altLang="zh-CN" dirty="0"/>
              <a:t>/</a:t>
            </a:r>
            <a:r>
              <a:rPr lang="en-US" altLang="zh-CN" dirty="0" err="1"/>
              <a:t>nanoGPT-withKVcache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87794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86379" y="895350"/>
            <a:ext cx="1271524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Overview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786379" y="3029301"/>
            <a:ext cx="842787" cy="8427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86379" y="4157838"/>
            <a:ext cx="842787" cy="8427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86379" y="5286375"/>
            <a:ext cx="842787" cy="8427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86379" y="6414912"/>
            <a:ext cx="842787" cy="84278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94202" y="3029301"/>
            <a:ext cx="842787" cy="84278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94202" y="4157838"/>
            <a:ext cx="842787" cy="84278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94202" y="5286375"/>
            <a:ext cx="842787" cy="8427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07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94202" y="6414912"/>
            <a:ext cx="842787" cy="84278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08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837582" y="3164945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 err="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研究背景和问题</a:t>
            </a:r>
            <a:endParaRPr lang="en-US" sz="32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837582" y="4293482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 err="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实验设置</a:t>
            </a:r>
            <a:endParaRPr lang="en-US" sz="32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837582" y="5417431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 err="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实验流程</a:t>
            </a:r>
            <a:endParaRPr lang="en-US" sz="32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837582" y="6541381"/>
            <a:ext cx="4955083" cy="538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 err="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实验结果分析</a:t>
            </a:r>
            <a:r>
              <a:rPr lang="en-US" altLang="zh-CN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</a:t>
            </a:r>
            <a:r>
              <a:rPr lang="zh-CN" alt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时间性能</a:t>
            </a:r>
            <a:endParaRPr lang="en-US" sz="32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546539" y="3153197"/>
            <a:ext cx="4955083" cy="538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 err="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实验结果分析</a:t>
            </a:r>
            <a:r>
              <a:rPr lang="en-US" altLang="zh-CN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</a:t>
            </a:r>
            <a:r>
              <a:rPr lang="zh-CN" alt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内存性能</a:t>
            </a:r>
            <a:endParaRPr lang="en-US" sz="32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545406" y="4293482"/>
            <a:ext cx="495621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 err="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总结</a:t>
            </a:r>
            <a:endParaRPr lang="en-US" sz="32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545406" y="5422019"/>
            <a:ext cx="495621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BTW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45406" y="6538808"/>
            <a:ext cx="495621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 err="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参考资料</a:t>
            </a:r>
            <a:endParaRPr lang="en-US" sz="3200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DFC87D4-0612-C041-9B61-169AE433C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24" y="1954695"/>
            <a:ext cx="7953171" cy="5538138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769011" y="7324884"/>
            <a:ext cx="931412" cy="1030388"/>
          </a:xfrm>
          <a:custGeom>
            <a:avLst/>
            <a:gdLst/>
            <a:ahLst/>
            <a:cxnLst/>
            <a:rect l="l" t="t" r="r" b="b"/>
            <a:pathLst>
              <a:path w="1466396" h="1466396">
                <a:moveTo>
                  <a:pt x="0" y="0"/>
                </a:moveTo>
                <a:lnTo>
                  <a:pt x="1466396" y="0"/>
                </a:lnTo>
                <a:lnTo>
                  <a:pt x="1466396" y="1466396"/>
                </a:lnTo>
                <a:lnTo>
                  <a:pt x="0" y="1466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62E239-B34E-734F-B1F5-1B4F0F5109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00" y="0"/>
            <a:ext cx="4419600" cy="14986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A8D57B-20BE-B045-97AE-A565D3CEC324}"/>
              </a:ext>
            </a:extLst>
          </p:cNvPr>
          <p:cNvCxnSpPr>
            <a:cxnSpLocks/>
          </p:cNvCxnSpPr>
          <p:nvPr/>
        </p:nvCxnSpPr>
        <p:spPr>
          <a:xfrm>
            <a:off x="-152400" y="1207218"/>
            <a:ext cx="18440400" cy="0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 3"/>
          <p:cNvSpPr/>
          <p:nvPr/>
        </p:nvSpPr>
        <p:spPr>
          <a:xfrm>
            <a:off x="592396" y="1895930"/>
            <a:ext cx="992325" cy="766844"/>
          </a:xfrm>
          <a:custGeom>
            <a:avLst/>
            <a:gdLst/>
            <a:ahLst/>
            <a:cxnLst/>
            <a:rect l="l" t="t" r="r" b="b"/>
            <a:pathLst>
              <a:path w="1466396" h="1239104">
                <a:moveTo>
                  <a:pt x="0" y="0"/>
                </a:moveTo>
                <a:lnTo>
                  <a:pt x="1466396" y="0"/>
                </a:lnTo>
                <a:lnTo>
                  <a:pt x="1466396" y="1239105"/>
                </a:lnTo>
                <a:lnTo>
                  <a:pt x="0" y="12391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8313EB0-FD68-BD43-97F8-0A12393CF8DC}"/>
              </a:ext>
            </a:extLst>
          </p:cNvPr>
          <p:cNvSpPr txBox="1"/>
          <p:nvPr/>
        </p:nvSpPr>
        <p:spPr>
          <a:xfrm>
            <a:off x="1188673" y="12422"/>
            <a:ext cx="7955327" cy="112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1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 研究背景和问题</a:t>
            </a:r>
            <a:endParaRPr lang="en-US" sz="4400" b="1" dirty="0">
              <a:solidFill>
                <a:srgbClr val="2D3880"/>
              </a:solidFill>
              <a:latin typeface="Helvetica" pitchFamily="2" charset="0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A3C19E-7FD2-464B-B606-A076CF3446A5}"/>
              </a:ext>
            </a:extLst>
          </p:cNvPr>
          <p:cNvSpPr txBox="1"/>
          <p:nvPr/>
        </p:nvSpPr>
        <p:spPr>
          <a:xfrm>
            <a:off x="1820248" y="8149810"/>
            <a:ext cx="871155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Helvetica" pitchFamily="2" charset="0"/>
              </a:rPr>
              <a:t>KV Cache </a:t>
            </a:r>
            <a:r>
              <a:rPr lang="zh-CN" altLang="en-US" sz="2800" dirty="0">
                <a:latin typeface="Helvetica" pitchFamily="2" charset="0"/>
              </a:rPr>
              <a:t>在什么情况下提升推理速度最明显</a:t>
            </a:r>
            <a:r>
              <a:rPr lang="en-US" altLang="zh-CN" sz="2800" dirty="0">
                <a:latin typeface="Helvetica" pitchFamily="2" charset="0"/>
              </a:rPr>
              <a:t>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Helvetica" pitchFamily="2" charset="0"/>
              </a:rPr>
              <a:t>KV Cache </a:t>
            </a:r>
            <a:r>
              <a:rPr lang="zh-CN" altLang="en-US" sz="2800" dirty="0">
                <a:latin typeface="Helvetica" pitchFamily="2" charset="0"/>
              </a:rPr>
              <a:t>的内存占用随序列长度增加的趋势如何</a:t>
            </a:r>
            <a:r>
              <a:rPr lang="en-US" altLang="zh-CN" sz="2800" dirty="0">
                <a:latin typeface="Helvetica" pitchFamily="2" charset="0"/>
              </a:rPr>
              <a:t>?</a:t>
            </a:r>
          </a:p>
          <a:p>
            <a:endParaRPr lang="en-US" dirty="0">
              <a:latin typeface="Helvetica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170219-3E8A-0C46-839E-8CBA73CE0FB4}"/>
              </a:ext>
            </a:extLst>
          </p:cNvPr>
          <p:cNvSpPr txBox="1"/>
          <p:nvPr/>
        </p:nvSpPr>
        <p:spPr>
          <a:xfrm>
            <a:off x="1841030" y="7477057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Helvetica" pitchFamily="2" charset="0"/>
              </a:rPr>
              <a:t>研究问题</a:t>
            </a:r>
            <a:endParaRPr lang="en-US" sz="3200" b="1" dirty="0">
              <a:latin typeface="Helvetica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E4BDEC8-FDE8-1A46-ACE5-2B7D909CBD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7514" y="2300681"/>
            <a:ext cx="6838426" cy="1523992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flipH="1">
            <a:off x="13335000" y="8061832"/>
            <a:ext cx="4967854" cy="2225167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F2C4B8-74D8-334F-B863-2F47F6B5C1AD}"/>
              </a:ext>
            </a:extLst>
          </p:cNvPr>
          <p:cNvSpPr txBox="1"/>
          <p:nvPr/>
        </p:nvSpPr>
        <p:spPr>
          <a:xfrm>
            <a:off x="4114800" y="4005905"/>
            <a:ext cx="231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Eq 1 Attention formula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2A92F4-F6EC-6545-82FE-D490D81190F5}"/>
              </a:ext>
            </a:extLst>
          </p:cNvPr>
          <p:cNvSpPr txBox="1"/>
          <p:nvPr/>
        </p:nvSpPr>
        <p:spPr>
          <a:xfrm>
            <a:off x="1813321" y="1954888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Helvetica" pitchFamily="2" charset="0"/>
              </a:rPr>
              <a:t>研究背景</a:t>
            </a:r>
            <a:endParaRPr lang="en-US" sz="32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15139D-2AE0-8449-9D7D-2838DA7080E1}"/>
              </a:ext>
            </a:extLst>
          </p:cNvPr>
          <p:cNvSpPr txBox="1"/>
          <p:nvPr/>
        </p:nvSpPr>
        <p:spPr>
          <a:xfrm>
            <a:off x="11361840" y="7692500"/>
            <a:ext cx="5750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Fig 1 Autoregressive decoding redundancy without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Kvcache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1E0DD9-D9AC-CD4F-92AD-1785CC6A4C51}"/>
              </a:ext>
            </a:extLst>
          </p:cNvPr>
          <p:cNvSpPr txBox="1"/>
          <p:nvPr/>
        </p:nvSpPr>
        <p:spPr>
          <a:xfrm>
            <a:off x="129871" y="4375237"/>
            <a:ext cx="9930753" cy="260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自回归生成：每生成一个 </a:t>
            </a:r>
            <a:r>
              <a:rPr lang="en-GB" sz="2800" dirty="0"/>
              <a:t>token </a:t>
            </a:r>
            <a:r>
              <a:rPr lang="zh-CN" altLang="en-US" sz="2800" dirty="0"/>
              <a:t>都要重新计算与全部历史 </a:t>
            </a:r>
            <a:r>
              <a:rPr lang="en-GB" sz="2800" dirty="0"/>
              <a:t>token </a:t>
            </a:r>
            <a:r>
              <a:rPr lang="zh-CN" altLang="en-US" sz="2800" dirty="0"/>
              <a:t>的注意力，复杂度为 </a:t>
            </a:r>
            <a:r>
              <a:rPr lang="en-GB" sz="2800" b="1" dirty="0"/>
              <a:t>O(n²)</a:t>
            </a:r>
            <a:r>
              <a:rPr lang="en-GB" sz="2800" dirty="0"/>
              <a:t>。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KV Cache </a:t>
            </a:r>
            <a:r>
              <a:rPr lang="zh-CN" altLang="en-US" sz="2800" dirty="0"/>
              <a:t>：通过缓存历史 </a:t>
            </a:r>
            <a:r>
              <a:rPr lang="en-GB" sz="2800" dirty="0"/>
              <a:t>token </a:t>
            </a:r>
            <a:r>
              <a:rPr lang="zh-CN" altLang="en-US" sz="2800" dirty="0"/>
              <a:t>的 </a:t>
            </a:r>
            <a:r>
              <a:rPr lang="en-GB" sz="2800" dirty="0"/>
              <a:t>Key/Value，</a:t>
            </a:r>
            <a:r>
              <a:rPr lang="zh-CN" altLang="en-US" sz="2800" dirty="0"/>
              <a:t>使每步只需计算最新 </a:t>
            </a:r>
            <a:r>
              <a:rPr lang="en-GB" sz="2800" dirty="0"/>
              <a:t>token </a:t>
            </a:r>
            <a:r>
              <a:rPr lang="zh-CN" altLang="en-US" sz="2800" dirty="0"/>
              <a:t>的注意力，复杂度降为 </a:t>
            </a:r>
            <a:r>
              <a:rPr lang="en-GB" sz="2800" b="1" dirty="0"/>
              <a:t>O(n)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85126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10800000" flipH="1">
            <a:off x="14935200" y="5143500"/>
            <a:ext cx="3373582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12727-E738-834F-A6A3-719B382959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00" y="0"/>
            <a:ext cx="4419600" cy="1498600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69F6BF1A-DB06-0F48-A246-3050E7C6D277}"/>
              </a:ext>
            </a:extLst>
          </p:cNvPr>
          <p:cNvSpPr txBox="1"/>
          <p:nvPr/>
        </p:nvSpPr>
        <p:spPr>
          <a:xfrm>
            <a:off x="1188673" y="12422"/>
            <a:ext cx="7955327" cy="112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2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 实验设置 </a:t>
            </a: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-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  模型搭建</a:t>
            </a:r>
            <a:endParaRPr lang="en-US" sz="4400" b="1" dirty="0">
              <a:solidFill>
                <a:srgbClr val="2D3880"/>
              </a:solidFill>
              <a:latin typeface="Helvetica" pitchFamily="2" charset="0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885A2F-E3FF-634B-A762-02D00BA9A0EA}"/>
              </a:ext>
            </a:extLst>
          </p:cNvPr>
          <p:cNvCxnSpPr>
            <a:cxnSpLocks/>
          </p:cNvCxnSpPr>
          <p:nvPr/>
        </p:nvCxnSpPr>
        <p:spPr>
          <a:xfrm>
            <a:off x="-152400" y="1207218"/>
            <a:ext cx="18440400" cy="0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56EC79D-4AAE-BB43-9E4E-CDC0324785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945" y="1567215"/>
            <a:ext cx="5397204" cy="77342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E0D4E4-EA93-D74B-BC6C-208B2029AF7B}"/>
              </a:ext>
            </a:extLst>
          </p:cNvPr>
          <p:cNvSpPr txBox="1"/>
          <p:nvPr/>
        </p:nvSpPr>
        <p:spPr>
          <a:xfrm>
            <a:off x="1752600" y="9476844"/>
            <a:ext cx="395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Fig 2 self-built decoder-only transformer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1B9A2E-9B52-974B-A807-9775E44DEDA4}"/>
              </a:ext>
            </a:extLst>
          </p:cNvPr>
          <p:cNvSpPr txBox="1"/>
          <p:nvPr/>
        </p:nvSpPr>
        <p:spPr>
          <a:xfrm>
            <a:off x="11729634" y="9236630"/>
            <a:ext cx="2803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" pitchFamily="2" charset="0"/>
              </a:rPr>
              <a:t>Configurations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B0ABC8-03AD-294A-9B3B-22DC17161D50}"/>
              </a:ext>
            </a:extLst>
          </p:cNvPr>
          <p:cNvSpPr txBox="1"/>
          <p:nvPr/>
        </p:nvSpPr>
        <p:spPr>
          <a:xfrm>
            <a:off x="7489806" y="1378009"/>
            <a:ext cx="3517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" pitchFamily="2" charset="0"/>
              </a:rPr>
              <a:t>KV</a:t>
            </a:r>
            <a:r>
              <a:rPr lang="zh-CN" altLang="en-US" sz="2800" dirty="0"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cache实现逻辑</a:t>
            </a:r>
            <a:r>
              <a:rPr lang="zh-CN" altLang="en-US" sz="2800" dirty="0">
                <a:latin typeface="Helvetica" pitchFamily="2" charset="0"/>
              </a:rPr>
              <a:t>：</a:t>
            </a:r>
            <a:endParaRPr lang="en-US" sz="2800" dirty="0">
              <a:latin typeface="Helvetica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16E794-7656-3641-B505-ACB8072E1F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752" y="7690209"/>
            <a:ext cx="3649844" cy="23659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C52202-52AB-004E-AA4C-258AF8DF0E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5421" y="7673049"/>
            <a:ext cx="2772401" cy="1498595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487D37-1570-2449-A9BD-E2C9A570DEB0}"/>
              </a:ext>
            </a:extLst>
          </p:cNvPr>
          <p:cNvCxnSpPr>
            <a:cxnSpLocks/>
          </p:cNvCxnSpPr>
          <p:nvPr/>
        </p:nvCxnSpPr>
        <p:spPr>
          <a:xfrm flipV="1">
            <a:off x="4852160" y="2146660"/>
            <a:ext cx="2637646" cy="3728868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ABE651-CADE-CF4E-BC62-17A94A503B58}"/>
              </a:ext>
            </a:extLst>
          </p:cNvPr>
          <p:cNvCxnSpPr>
            <a:cxnSpLocks/>
          </p:cNvCxnSpPr>
          <p:nvPr/>
        </p:nvCxnSpPr>
        <p:spPr>
          <a:xfrm flipV="1">
            <a:off x="4852160" y="3368262"/>
            <a:ext cx="2723374" cy="3344227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1CEE031-2C52-5444-8A4E-753E7ABB1635}"/>
              </a:ext>
            </a:extLst>
          </p:cNvPr>
          <p:cNvSpPr/>
          <p:nvPr/>
        </p:nvSpPr>
        <p:spPr>
          <a:xfrm>
            <a:off x="7489806" y="2061232"/>
            <a:ext cx="2154357" cy="13485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1F73CA-D026-C846-A230-3422DEBEC9D0}"/>
              </a:ext>
            </a:extLst>
          </p:cNvPr>
          <p:cNvSpPr txBox="1"/>
          <p:nvPr/>
        </p:nvSpPr>
        <p:spPr>
          <a:xfrm>
            <a:off x="7766843" y="2320010"/>
            <a:ext cx="16514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Single Head</a:t>
            </a:r>
          </a:p>
          <a:p>
            <a:pPr algn="ctr"/>
            <a:r>
              <a:rPr lang="en-US" sz="2400" dirty="0"/>
              <a:t>+  KV cache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2424D8-CE7C-3540-ADE9-DFC6C4B5FA77}"/>
              </a:ext>
            </a:extLst>
          </p:cNvPr>
          <p:cNvSpPr txBox="1"/>
          <p:nvPr/>
        </p:nvSpPr>
        <p:spPr>
          <a:xfrm>
            <a:off x="7575534" y="3543592"/>
            <a:ext cx="8783757" cy="4554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Helvetica" pitchFamily="2" charset="0"/>
              </a:rPr>
              <a:t>1.</a:t>
            </a:r>
            <a:r>
              <a:rPr lang="zh-CN" altLang="en-US" sz="2800" dirty="0">
                <a:latin typeface="Helvetica" pitchFamily="2" charset="0"/>
              </a:rPr>
              <a:t> 缓存存储位置：</a:t>
            </a:r>
            <a:r>
              <a:rPr lang="zh-CN" altLang="en-US" sz="2800" dirty="0"/>
              <a:t>每个注意力头 </a:t>
            </a:r>
            <a:r>
              <a:rPr lang="en-GB" sz="2800" dirty="0"/>
              <a:t>Head </a:t>
            </a:r>
            <a:r>
              <a:rPr lang="zh-CN" altLang="en-US" sz="2800" dirty="0"/>
              <a:t>都有独立的缓存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Helvetica" pitchFamily="2" charset="0"/>
              </a:rPr>
              <a:t>2.</a:t>
            </a:r>
            <a:r>
              <a:rPr lang="zh-CN" altLang="en-US" sz="2800" dirty="0">
                <a:latin typeface="Helvetica" pitchFamily="2" charset="0"/>
              </a:rPr>
              <a:t> </a:t>
            </a:r>
            <a:r>
              <a:rPr lang="en-US" altLang="zh-CN" sz="2800" dirty="0" err="1">
                <a:latin typeface="Helvetica" pitchFamily="2" charset="0"/>
              </a:rPr>
              <a:t>Head.forward</a:t>
            </a:r>
            <a:r>
              <a:rPr lang="en-US" altLang="zh-CN" sz="2800" dirty="0">
                <a:latin typeface="Helvetica" pitchFamily="2" charset="0"/>
              </a:rPr>
              <a:t> </a:t>
            </a:r>
            <a:r>
              <a:rPr lang="zh-CN" altLang="en-US" sz="2800" dirty="0">
                <a:latin typeface="Helvetica" pitchFamily="2" charset="0"/>
              </a:rPr>
              <a:t>中使用</a:t>
            </a:r>
            <a:r>
              <a:rPr lang="en-US" altLang="zh-CN" sz="2800" dirty="0" err="1">
                <a:latin typeface="Helvetica" pitchFamily="2" charset="0"/>
              </a:rPr>
              <a:t>use_cache</a:t>
            </a:r>
            <a:r>
              <a:rPr lang="en-US" altLang="zh-CN" sz="2800" dirty="0">
                <a:latin typeface="Helvetica" pitchFamily="2" charset="0"/>
              </a:rPr>
              <a:t> flag: </a:t>
            </a:r>
            <a:r>
              <a:rPr lang="zh-CN" altLang="en-US" sz="2800" dirty="0">
                <a:latin typeface="Helvetica" pitchFamily="2" charset="0"/>
              </a:rPr>
              <a:t>选择计算方式</a:t>
            </a:r>
            <a:endParaRPr lang="en-GB" altLang="zh-CN" sz="2800" dirty="0">
              <a:latin typeface="Helvetica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Helvetica" pitchFamily="2" charset="0"/>
              </a:rPr>
              <a:t>3.</a:t>
            </a:r>
            <a:r>
              <a:rPr lang="zh-CN" altLang="en-US" sz="2800" dirty="0"/>
              <a:t> 位置编码偏移</a:t>
            </a:r>
            <a:r>
              <a:rPr lang="en-US" altLang="zh-CN" sz="2800" dirty="0"/>
              <a:t>:</a:t>
            </a:r>
            <a:r>
              <a:rPr lang="zh-CN" altLang="en-US" sz="2800" dirty="0"/>
              <a:t> 保证新 </a:t>
            </a:r>
            <a:r>
              <a:rPr lang="en-GB" sz="2800" dirty="0"/>
              <a:t>token </a:t>
            </a:r>
            <a:r>
              <a:rPr lang="zh-CN" altLang="en-US" sz="2800" dirty="0"/>
              <a:t>的位置编码连续</a:t>
            </a:r>
            <a:endParaRPr lang="en-GB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Helvetica" pitchFamily="2" charset="0"/>
              </a:rPr>
              <a:t>4.</a:t>
            </a:r>
            <a:r>
              <a:rPr lang="zh-CN" altLang="en-US" sz="2800" dirty="0">
                <a:latin typeface="Helvetica" pitchFamily="2" charset="0"/>
              </a:rPr>
              <a:t> 多头</a:t>
            </a:r>
            <a:r>
              <a:rPr lang="en-US" altLang="zh-CN" sz="2800" dirty="0">
                <a:latin typeface="Helvetica" pitchFamily="2" charset="0"/>
              </a:rPr>
              <a:t>&amp;</a:t>
            </a:r>
            <a:r>
              <a:rPr lang="zh-CN" altLang="en-US" sz="2800" dirty="0">
                <a:latin typeface="Helvetica" pitchFamily="2" charset="0"/>
              </a:rPr>
              <a:t>多层：</a:t>
            </a:r>
            <a:r>
              <a:rPr lang="zh-CN" altLang="en-US" sz="2800" dirty="0"/>
              <a:t>每个头维护独立 </a:t>
            </a:r>
            <a:r>
              <a:rPr lang="en-GB" sz="2800" dirty="0" err="1"/>
              <a:t>cache_k</a:t>
            </a:r>
            <a:r>
              <a:rPr lang="en-GB" sz="2800" dirty="0"/>
              <a:t>/</a:t>
            </a:r>
            <a:r>
              <a:rPr lang="en-GB" sz="2800" dirty="0" err="1"/>
              <a:t>cache_v</a:t>
            </a:r>
            <a:endParaRPr lang="en-GB" sz="2800" dirty="0"/>
          </a:p>
          <a:p>
            <a:pPr>
              <a:lnSpc>
                <a:spcPct val="150000"/>
              </a:lnSpc>
            </a:pPr>
            <a:r>
              <a:rPr lang="en-GB" altLang="zh-CN" sz="2800" dirty="0"/>
              <a:t>		</a:t>
            </a:r>
            <a:r>
              <a:rPr lang="zh-CN" altLang="en-US" sz="2800" dirty="0"/>
              <a:t>       每个 </a:t>
            </a:r>
            <a:r>
              <a:rPr lang="en-GB" sz="2800" dirty="0"/>
              <a:t>Block </a:t>
            </a:r>
            <a:r>
              <a:rPr lang="zh-CN" altLang="en-US" sz="2800" dirty="0"/>
              <a:t>都可调用 </a:t>
            </a:r>
            <a:r>
              <a:rPr lang="en-GB" sz="2800" dirty="0" err="1"/>
              <a:t>use_cache</a:t>
            </a:r>
            <a:endParaRPr lang="en-GB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5.</a:t>
            </a:r>
            <a:r>
              <a:rPr lang="en-GB" sz="2800" dirty="0"/>
              <a:t> </a:t>
            </a:r>
            <a:r>
              <a:rPr lang="en-GB" sz="2800" dirty="0" err="1"/>
              <a:t>reset_cache</a:t>
            </a:r>
            <a:r>
              <a:rPr lang="en-GB" sz="2800" dirty="0"/>
              <a:t>() </a:t>
            </a:r>
            <a:r>
              <a:rPr lang="zh-CN" altLang="en-US" sz="2800" dirty="0"/>
              <a:t>递归清空所有 </a:t>
            </a:r>
            <a:r>
              <a:rPr lang="en-GB" sz="2800" dirty="0"/>
              <a:t>Block / Head </a:t>
            </a:r>
            <a:r>
              <a:rPr lang="zh-CN" altLang="en-US" sz="2800" dirty="0"/>
              <a:t>缓存</a:t>
            </a:r>
            <a:endParaRPr lang="en-GB" sz="2800" dirty="0"/>
          </a:p>
          <a:p>
            <a:pPr>
              <a:lnSpc>
                <a:spcPct val="150000"/>
              </a:lnSpc>
            </a:pPr>
            <a:endParaRPr lang="en-US" altLang="zh-CN" sz="2800" dirty="0">
              <a:latin typeface="Helvetica" pitchFamily="2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B71F9C1-D727-F14F-BF18-88FA330255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199" y="2146659"/>
            <a:ext cx="6877139" cy="12215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ame 51">
            <a:extLst>
              <a:ext uri="{FF2B5EF4-FFF2-40B4-BE49-F238E27FC236}">
                <a16:creationId xmlns:a16="http://schemas.microsoft.com/office/drawing/2014/main" id="{C4D1C7D1-21A5-ED47-9EC1-6211333337D9}"/>
              </a:ext>
            </a:extLst>
          </p:cNvPr>
          <p:cNvSpPr/>
          <p:nvPr/>
        </p:nvSpPr>
        <p:spPr>
          <a:xfrm>
            <a:off x="1828801" y="5797451"/>
            <a:ext cx="7770745" cy="3672857"/>
          </a:xfrm>
          <a:prstGeom prst="frame">
            <a:avLst>
              <a:gd name="adj1" fmla="val 392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71A93669-5AE9-604F-AEFF-FC6AB7631621}"/>
              </a:ext>
            </a:extLst>
          </p:cNvPr>
          <p:cNvSpPr/>
          <p:nvPr/>
        </p:nvSpPr>
        <p:spPr>
          <a:xfrm>
            <a:off x="10589074" y="1915869"/>
            <a:ext cx="511015" cy="5940058"/>
          </a:xfrm>
          <a:prstGeom prst="downArrow">
            <a:avLst>
              <a:gd name="adj1" fmla="val 56278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963B48-148E-E74A-BEB9-9FEDACDA0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00" y="0"/>
            <a:ext cx="4419600" cy="1498600"/>
          </a:xfrm>
          <a:prstGeom prst="rect">
            <a:avLst/>
          </a:prstGeom>
        </p:spPr>
      </p:pic>
      <p:sp>
        <p:nvSpPr>
          <p:cNvPr id="16" name="TextBox 6">
            <a:extLst>
              <a:ext uri="{FF2B5EF4-FFF2-40B4-BE49-F238E27FC236}">
                <a16:creationId xmlns:a16="http://schemas.microsoft.com/office/drawing/2014/main" id="{5A35C3CB-6F95-A34A-A90E-8D3A8EFBEAFE}"/>
              </a:ext>
            </a:extLst>
          </p:cNvPr>
          <p:cNvSpPr txBox="1"/>
          <p:nvPr/>
        </p:nvSpPr>
        <p:spPr>
          <a:xfrm>
            <a:off x="1188673" y="12422"/>
            <a:ext cx="7955327" cy="112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3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 实验流程</a:t>
            </a:r>
            <a:endParaRPr lang="en-US" sz="4400" b="1" dirty="0">
              <a:solidFill>
                <a:srgbClr val="2D3880"/>
              </a:solidFill>
              <a:latin typeface="Helvetica" pitchFamily="2" charset="0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3332D5-76BA-D04E-911C-EDF195AE7384}"/>
              </a:ext>
            </a:extLst>
          </p:cNvPr>
          <p:cNvCxnSpPr>
            <a:cxnSpLocks/>
          </p:cNvCxnSpPr>
          <p:nvPr/>
        </p:nvCxnSpPr>
        <p:spPr>
          <a:xfrm>
            <a:off x="-76200" y="1139590"/>
            <a:ext cx="18440400" cy="0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AAA8C097-69B6-304A-A177-64B02C6A4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559502"/>
              </p:ext>
            </p:extLst>
          </p:nvPr>
        </p:nvGraphicFramePr>
        <p:xfrm>
          <a:off x="2076730" y="2653217"/>
          <a:ext cx="5181600" cy="190880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85507417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583580041"/>
                    </a:ext>
                  </a:extLst>
                </a:gridCol>
              </a:tblGrid>
              <a:tr h="357333">
                <a:tc>
                  <a:txBody>
                    <a:bodyPr/>
                    <a:lstStyle/>
                    <a:p>
                      <a:r>
                        <a:rPr lang="zh-CN" altLang="en-US" b="1"/>
                        <a:t>变量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取值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680360"/>
                  </a:ext>
                </a:extLst>
              </a:tr>
              <a:tr h="514349">
                <a:tc>
                  <a:txBody>
                    <a:bodyPr/>
                    <a:lstStyle/>
                    <a:p>
                      <a:r>
                        <a:rPr lang="zh-CN" altLang="en-US"/>
                        <a:t>序列长度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128, 512, 1024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352551"/>
                  </a:ext>
                </a:extLst>
              </a:tr>
              <a:tr h="514349">
                <a:tc>
                  <a:txBody>
                    <a:bodyPr/>
                    <a:lstStyle/>
                    <a:p>
                      <a:r>
                        <a:rPr lang="zh-CN" altLang="en-US"/>
                        <a:t>批量大小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1, 16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341811"/>
                  </a:ext>
                </a:extLst>
              </a:tr>
              <a:tr h="514349">
                <a:tc>
                  <a:txBody>
                    <a:bodyPr/>
                    <a:lstStyle/>
                    <a:p>
                      <a:r>
                        <a:rPr lang="en-GB"/>
                        <a:t>KV Cache </a:t>
                      </a:r>
                      <a:r>
                        <a:rPr lang="zh-CN" altLang="en-US"/>
                        <a:t>开关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True /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90501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A3330C1-F942-C545-9D54-5C0B19CB52AD}"/>
              </a:ext>
            </a:extLst>
          </p:cNvPr>
          <p:cNvSpPr txBox="1"/>
          <p:nvPr/>
        </p:nvSpPr>
        <p:spPr>
          <a:xfrm>
            <a:off x="2076730" y="1891217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Helvetica" pitchFamily="2" charset="0"/>
              </a:rPr>
              <a:t>实验变量</a:t>
            </a:r>
            <a:r>
              <a:rPr lang="zh-CN" altLang="en-US" sz="2800" dirty="0">
                <a:latin typeface="Helvetica" pitchFamily="2" charset="0"/>
              </a:rPr>
              <a:t>：</a:t>
            </a:r>
            <a:endParaRPr lang="en-US" sz="2800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B7226A-03D7-7147-9C84-1AF5A9E0635E}"/>
                  </a:ext>
                </a:extLst>
              </p:cNvPr>
              <p:cNvSpPr txBox="1"/>
              <p:nvPr/>
            </p:nvSpPr>
            <p:spPr>
              <a:xfrm>
                <a:off x="2076730" y="5143500"/>
                <a:ext cx="7342331" cy="41923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latin typeface="Helvetica" pitchFamily="2" charset="0"/>
                  </a:rPr>
                  <a:t>评估指标：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latin typeface="Helvetica" pitchFamily="2" charset="0"/>
                  </a:rPr>
                  <a:t>每步生成一个 </a:t>
                </a:r>
                <a:r>
                  <a:rPr lang="en-GB" altLang="zh-CN" sz="2800" dirty="0">
                    <a:latin typeface="Helvetica" pitchFamily="2" charset="0"/>
                  </a:rPr>
                  <a:t>token </a:t>
                </a:r>
                <a:r>
                  <a:rPr lang="zh-CN" altLang="en-US" sz="2800" dirty="0">
                    <a:latin typeface="Helvetica" pitchFamily="2" charset="0"/>
                  </a:rPr>
                  <a:t>的平均时间</a:t>
                </a:r>
                <a:r>
                  <a:rPr lang="en-US" altLang="zh-CN" sz="2800" dirty="0">
                    <a:latin typeface="Helvetica" pitchFamily="2" charset="0"/>
                  </a:rPr>
                  <a:t>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𝑔𝑒𝑛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𝑠𝑡𝑒𝑝𝑠</m:t>
                        </m:r>
                      </m:den>
                    </m:f>
                  </m:oMath>
                </a14:m>
                <a:endParaRPr lang="zh-CN" altLang="en-GB" sz="2800" dirty="0">
                  <a:latin typeface="Helvetica" pitchFamily="2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latin typeface="Helvetica" pitchFamily="2" charset="0"/>
                  </a:rPr>
                  <a:t>推理峰值显存（</a:t>
                </a:r>
                <a:r>
                  <a:rPr lang="en-GB" altLang="zh-CN" sz="2800" dirty="0">
                    <a:latin typeface="Helvetica" pitchFamily="2" charset="0"/>
                  </a:rPr>
                  <a:t>MB</a:t>
                </a:r>
                <a:r>
                  <a:rPr lang="zh-CN" altLang="en-GB" sz="2800" dirty="0">
                    <a:latin typeface="Helvetica" pitchFamily="2" charset="0"/>
                  </a:rPr>
                  <a:t>）</a:t>
                </a:r>
                <a:r>
                  <a:rPr lang="en-US" altLang="zh-CN" sz="2800" dirty="0">
                    <a:latin typeface="Helvetica" pitchFamily="2" charset="0"/>
                  </a:rPr>
                  <a:t>priming &amp; generation</a:t>
                </a:r>
                <a:endParaRPr lang="zh-CN" altLang="en-GB" sz="2800" dirty="0">
                  <a:latin typeface="Helvetica" pitchFamily="2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latin typeface="Helvetica" pitchFamily="2" charset="0"/>
                  </a:rPr>
                  <a:t>时间加速比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𝑡𝑖𝑚𝑒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𝑡𝑖𝑚𝑒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𝑘𝑣</m:t>
                        </m:r>
                      </m:den>
                    </m:f>
                  </m:oMath>
                </a14:m>
                <a:endParaRPr lang="zh-CN" altLang="en-GB" sz="2800" dirty="0">
                  <a:latin typeface="Helvetica" pitchFamily="2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latin typeface="Helvetica" pitchFamily="2" charset="0"/>
                  </a:rPr>
                  <a:t>内存占用增加率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𝑚𝑒𝑚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𝑘𝑣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GB" altLang="zh-CN" sz="2800" i="1" dirty="0" err="1">
                            <a:latin typeface="Cambria Math" panose="02040503050406030204" pitchFamily="18" charset="0"/>
                          </a:rPr>
                          <m:t>𝑚𝑒𝑚</m:t>
                        </m:r>
                        <m:r>
                          <a:rPr lang="en-GB" altLang="zh-CN" sz="2800" i="1" dirty="0" err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altLang="zh-CN" sz="2800" i="1" dirty="0" err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GB" altLang="zh-CN" sz="2800" i="1" dirty="0" err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altLang="zh-CN" sz="2800" i="1" dirty="0" err="1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𝑚𝑒𝑚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altLang="zh-CN" sz="2800" i="1" dirty="0">
                            <a:latin typeface="Cambria Math" panose="02040503050406030204" pitchFamily="18" charset="0"/>
                          </a:rPr>
                          <m:t>𝑛𝑜</m:t>
                        </m:r>
                      </m:den>
                    </m:f>
                  </m:oMath>
                </a14:m>
                <a:endParaRPr lang="en-US" sz="28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B7226A-03D7-7147-9C84-1AF5A9E06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730" y="5143500"/>
                <a:ext cx="7342331" cy="4192366"/>
              </a:xfrm>
              <a:prstGeom prst="rect">
                <a:avLst/>
              </a:prstGeom>
              <a:blipFill>
                <a:blip r:embed="rId4"/>
                <a:stretch>
                  <a:fillRect l="-1727" r="-1209" b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C541E894-E204-164E-9A07-9F12AA9250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151" y="1498600"/>
            <a:ext cx="5438497" cy="8261804"/>
          </a:xfrm>
          <a:prstGeom prst="rect">
            <a:avLst/>
          </a:prstGeom>
        </p:spPr>
      </p:pic>
      <p:sp>
        <p:nvSpPr>
          <p:cNvPr id="9" name="Freeform 4">
            <a:extLst>
              <a:ext uri="{FF2B5EF4-FFF2-40B4-BE49-F238E27FC236}">
                <a16:creationId xmlns:a16="http://schemas.microsoft.com/office/drawing/2014/main" id="{39508B11-52B0-9349-9569-324C7C95813E}"/>
              </a:ext>
            </a:extLst>
          </p:cNvPr>
          <p:cNvSpPr/>
          <p:nvPr/>
        </p:nvSpPr>
        <p:spPr>
          <a:xfrm>
            <a:off x="1053479" y="5238165"/>
            <a:ext cx="856796" cy="725592"/>
          </a:xfrm>
          <a:custGeom>
            <a:avLst/>
            <a:gdLst/>
            <a:ahLst/>
            <a:cxnLst/>
            <a:rect l="l" t="t" r="r" b="b"/>
            <a:pathLst>
              <a:path w="1466396" h="1466396">
                <a:moveTo>
                  <a:pt x="0" y="0"/>
                </a:moveTo>
                <a:lnTo>
                  <a:pt x="1466396" y="0"/>
                </a:lnTo>
                <a:lnTo>
                  <a:pt x="1466396" y="1466396"/>
                </a:lnTo>
                <a:lnTo>
                  <a:pt x="0" y="1466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3" name="Graphic 2" descr="Playbook">
            <a:extLst>
              <a:ext uri="{FF2B5EF4-FFF2-40B4-BE49-F238E27FC236}">
                <a16:creationId xmlns:a16="http://schemas.microsoft.com/office/drawing/2014/main" id="{4C96A2F4-0DCC-CE44-A9C5-3D6184C173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1" y="1808387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ABB2F9-9C91-7A4A-8F0B-821E7E53F5C0}"/>
              </a:ext>
            </a:extLst>
          </p:cNvPr>
          <p:cNvSpPr txBox="1"/>
          <p:nvPr/>
        </p:nvSpPr>
        <p:spPr>
          <a:xfrm>
            <a:off x="10494294" y="2447851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D0C913-1854-6549-8E5B-1CAC26D67017}"/>
              </a:ext>
            </a:extLst>
          </p:cNvPr>
          <p:cNvSpPr txBox="1"/>
          <p:nvPr/>
        </p:nvSpPr>
        <p:spPr>
          <a:xfrm>
            <a:off x="10494294" y="3097408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2FD196-5D76-4E4C-8E56-2B76986C0A9C}"/>
              </a:ext>
            </a:extLst>
          </p:cNvPr>
          <p:cNvSpPr txBox="1"/>
          <p:nvPr/>
        </p:nvSpPr>
        <p:spPr>
          <a:xfrm>
            <a:off x="10494294" y="3911218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CD5F82-2712-7D46-955D-76E5FC330810}"/>
              </a:ext>
            </a:extLst>
          </p:cNvPr>
          <p:cNvSpPr txBox="1"/>
          <p:nvPr/>
        </p:nvSpPr>
        <p:spPr>
          <a:xfrm>
            <a:off x="10494294" y="5045135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</a:t>
            </a:r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5005A-1517-714D-872F-4B4033EBE76A}"/>
              </a:ext>
            </a:extLst>
          </p:cNvPr>
          <p:cNvSpPr txBox="1"/>
          <p:nvPr/>
        </p:nvSpPr>
        <p:spPr>
          <a:xfrm>
            <a:off x="10494294" y="7066173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F8FBBF-4C09-BC40-859F-2DCAFC8DB02A}"/>
              </a:ext>
            </a:extLst>
          </p:cNvPr>
          <p:cNvSpPr txBox="1"/>
          <p:nvPr/>
        </p:nvSpPr>
        <p:spPr>
          <a:xfrm>
            <a:off x="2928598" y="4662545"/>
            <a:ext cx="3189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Fig 3 experiment params setting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D22AF8-C47C-C24A-899E-1C901D265B99}"/>
              </a:ext>
            </a:extLst>
          </p:cNvPr>
          <p:cNvSpPr txBox="1"/>
          <p:nvPr/>
        </p:nvSpPr>
        <p:spPr>
          <a:xfrm>
            <a:off x="12500428" y="9609899"/>
            <a:ext cx="273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Fig 4 Experiment Flowchart</a:t>
            </a: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2B72AD00-22C7-7746-87AE-D9518DDCC433}"/>
              </a:ext>
            </a:extLst>
          </p:cNvPr>
          <p:cNvSpPr/>
          <p:nvPr/>
        </p:nvSpPr>
        <p:spPr>
          <a:xfrm rot="15985094" flipV="1">
            <a:off x="15182617" y="5706531"/>
            <a:ext cx="2651196" cy="2921682"/>
          </a:xfrm>
          <a:prstGeom prst="circularArrow">
            <a:avLst>
              <a:gd name="adj1" fmla="val 4376"/>
              <a:gd name="adj2" fmla="val 730607"/>
              <a:gd name="adj3" fmla="val 1884707"/>
              <a:gd name="adj4" fmla="val 10151358"/>
              <a:gd name="adj5" fmla="val 921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25361E-5463-414F-A43C-0C6848D11269}"/>
              </a:ext>
            </a:extLst>
          </p:cNvPr>
          <p:cNvSpPr txBox="1"/>
          <p:nvPr/>
        </p:nvSpPr>
        <p:spPr>
          <a:xfrm>
            <a:off x="16312942" y="4372222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</a:t>
            </a:r>
            <a:r>
              <a:rPr lang="en-US" altLang="zh-CN" dirty="0"/>
              <a:t>6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FDA8C-14CD-7440-BD05-10E0FABDF1AA}"/>
              </a:ext>
            </a:extLst>
          </p:cNvPr>
          <p:cNvSpPr txBox="1"/>
          <p:nvPr/>
        </p:nvSpPr>
        <p:spPr>
          <a:xfrm>
            <a:off x="15801927" y="4741554"/>
            <a:ext cx="2081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对每组变量组合 </a:t>
            </a:r>
            <a:r>
              <a:rPr lang="en-US" altLang="zh-CN" dirty="0"/>
              <a:t>(</a:t>
            </a:r>
            <a:r>
              <a:rPr lang="zh-CN" altLang="en-US" dirty="0"/>
              <a:t>序列长度 </a:t>
            </a:r>
            <a:r>
              <a:rPr lang="en-US" altLang="zh-CN" dirty="0"/>
              <a:t>× </a:t>
            </a:r>
            <a:r>
              <a:rPr lang="zh-CN" altLang="en-US" dirty="0"/>
              <a:t>批量大小 </a:t>
            </a:r>
            <a:r>
              <a:rPr lang="en-US" altLang="zh-CN" dirty="0"/>
              <a:t>× </a:t>
            </a:r>
            <a:r>
              <a:rPr lang="en-GB" dirty="0"/>
              <a:t>KV Cache </a:t>
            </a:r>
            <a:r>
              <a:rPr lang="zh-CN" altLang="en-US" dirty="0"/>
              <a:t>开关</a:t>
            </a:r>
            <a:r>
              <a:rPr lang="en-US" altLang="zh-CN" dirty="0"/>
              <a:t>)</a:t>
            </a:r>
            <a:r>
              <a:rPr lang="zh-CN" altLang="en-US" dirty="0"/>
              <a:t>，执行 </a:t>
            </a:r>
            <a:r>
              <a:rPr lang="en-US" altLang="zh-CN" dirty="0"/>
              <a:t>10</a:t>
            </a:r>
            <a:r>
              <a:rPr lang="zh-CN" altLang="en-US" dirty="0"/>
              <a:t>次，取</a:t>
            </a:r>
            <a:r>
              <a:rPr lang="en-US" altLang="zh-CN" dirty="0"/>
              <a:t>avg</a:t>
            </a:r>
            <a:r>
              <a:rPr lang="zh-CN" altLang="en-US" dirty="0"/>
              <a:t>。</a:t>
            </a:r>
            <a:endParaRPr lang="en-US" dirty="0"/>
          </a:p>
        </p:txBody>
      </p:sp>
      <p:sp>
        <p:nvSpPr>
          <p:cNvPr id="35" name="Bent Arrow 34">
            <a:extLst>
              <a:ext uri="{FF2B5EF4-FFF2-40B4-BE49-F238E27FC236}">
                <a16:creationId xmlns:a16="http://schemas.microsoft.com/office/drawing/2014/main" id="{D7D2FED0-B503-E540-84E5-35D2D9BEAA60}"/>
              </a:ext>
            </a:extLst>
          </p:cNvPr>
          <p:cNvSpPr/>
          <p:nvPr/>
        </p:nvSpPr>
        <p:spPr>
          <a:xfrm rot="10800000" flipH="1">
            <a:off x="10803692" y="8627019"/>
            <a:ext cx="801988" cy="1178760"/>
          </a:xfrm>
          <a:prstGeom prst="ben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A7DB19-4FA7-9E4C-A305-76F69B811F1D}"/>
              </a:ext>
            </a:extLst>
          </p:cNvPr>
          <p:cNvSpPr txBox="1"/>
          <p:nvPr/>
        </p:nvSpPr>
        <p:spPr>
          <a:xfrm>
            <a:off x="10494294" y="8977690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</a:t>
            </a:r>
            <a:r>
              <a:rPr lang="en-US" altLang="zh-CN" dirty="0"/>
              <a:t>7</a:t>
            </a:r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9849B3-0101-F246-9A16-B2B5E501B168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7258330" y="2722787"/>
            <a:ext cx="3235964" cy="559287"/>
          </a:xfrm>
          <a:prstGeom prst="straightConnector1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F511CE6-64A2-3644-82DB-26B04F12434C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258330" y="3282074"/>
            <a:ext cx="3235964" cy="1279950"/>
          </a:xfrm>
          <a:prstGeom prst="straightConnector1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49750A-9F1F-E447-81F9-5396D42918B1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9585516" y="5893320"/>
            <a:ext cx="908778" cy="1357519"/>
          </a:xfrm>
          <a:prstGeom prst="straightConnector1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90F444-D4C3-C948-BFB0-67E115E77D58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9568035" y="7250839"/>
            <a:ext cx="926259" cy="2219470"/>
          </a:xfrm>
          <a:prstGeom prst="straightConnector1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64A76D-E29F-FC4F-B795-6FF37D3D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00" y="0"/>
            <a:ext cx="4419600" cy="1498600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73CC0977-C44A-EE48-9E74-D607554C7684}"/>
              </a:ext>
            </a:extLst>
          </p:cNvPr>
          <p:cNvSpPr txBox="1"/>
          <p:nvPr/>
        </p:nvSpPr>
        <p:spPr>
          <a:xfrm>
            <a:off x="1188673" y="12422"/>
            <a:ext cx="7955327" cy="112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4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 实验结果分析</a:t>
            </a: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-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时间性能</a:t>
            </a:r>
            <a:endParaRPr lang="en-US" sz="4400" b="1" dirty="0">
              <a:solidFill>
                <a:srgbClr val="2D3880"/>
              </a:solidFill>
              <a:latin typeface="Helvetica" pitchFamily="2" charset="0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0D5DB1-FA8F-614C-BEE2-0F98E5C83490}"/>
              </a:ext>
            </a:extLst>
          </p:cNvPr>
          <p:cNvCxnSpPr>
            <a:cxnSpLocks/>
          </p:cNvCxnSpPr>
          <p:nvPr/>
        </p:nvCxnSpPr>
        <p:spPr>
          <a:xfrm>
            <a:off x="-152400" y="1207218"/>
            <a:ext cx="18440400" cy="0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6F5E3D0-A34F-1346-BF18-C3E7CA567F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73" y="2136351"/>
            <a:ext cx="4683515" cy="35126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8A094A-D3A2-F148-9F63-E1DF0BD18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79" y="5904564"/>
            <a:ext cx="4683509" cy="3512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DA8B5F-22E8-D342-A522-DD7259BF34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863" y="2136351"/>
            <a:ext cx="4683515" cy="3512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923546-8CC3-4D4D-BCF3-3D16645185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869" y="5872912"/>
            <a:ext cx="4683509" cy="3512632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6720BE13-C0E1-6F45-B3FD-38AC7D03BA42}"/>
              </a:ext>
            </a:extLst>
          </p:cNvPr>
          <p:cNvSpPr/>
          <p:nvPr/>
        </p:nvSpPr>
        <p:spPr>
          <a:xfrm>
            <a:off x="10498001" y="2290644"/>
            <a:ext cx="931412" cy="1030388"/>
          </a:xfrm>
          <a:custGeom>
            <a:avLst/>
            <a:gdLst/>
            <a:ahLst/>
            <a:cxnLst/>
            <a:rect l="l" t="t" r="r" b="b"/>
            <a:pathLst>
              <a:path w="1466396" h="1466396">
                <a:moveTo>
                  <a:pt x="0" y="0"/>
                </a:moveTo>
                <a:lnTo>
                  <a:pt x="1466396" y="0"/>
                </a:lnTo>
                <a:lnTo>
                  <a:pt x="1466396" y="1466396"/>
                </a:lnTo>
                <a:lnTo>
                  <a:pt x="0" y="1466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E3058C-8A35-1C40-81F3-CC03175B2648}"/>
              </a:ext>
            </a:extLst>
          </p:cNvPr>
          <p:cNvSpPr txBox="1"/>
          <p:nvPr/>
        </p:nvSpPr>
        <p:spPr>
          <a:xfrm>
            <a:off x="11429413" y="2700797"/>
            <a:ext cx="6345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Helvetica" pitchFamily="2" charset="0"/>
              </a:rPr>
              <a:t>KV Cache </a:t>
            </a:r>
            <a:r>
              <a:rPr lang="zh-CN" altLang="en-US" sz="2400" dirty="0">
                <a:latin typeface="Helvetica" pitchFamily="2" charset="0"/>
              </a:rPr>
              <a:t>在什么情况下提升推理速度最明显</a:t>
            </a:r>
            <a:r>
              <a:rPr lang="en-US" altLang="zh-CN" sz="2400" dirty="0">
                <a:latin typeface="Helvetica" pitchFamily="2" charset="0"/>
              </a:rPr>
              <a:t>?</a:t>
            </a:r>
          </a:p>
          <a:p>
            <a:endParaRPr lang="en-US" dirty="0">
              <a:latin typeface="Helvetica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17E8F-E04F-2B4E-BF3A-BE19DE1DE653}"/>
              </a:ext>
            </a:extLst>
          </p:cNvPr>
          <p:cNvSpPr txBox="1"/>
          <p:nvPr/>
        </p:nvSpPr>
        <p:spPr>
          <a:xfrm>
            <a:off x="11326819" y="2258564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Helvetica" pitchFamily="2" charset="0"/>
              </a:rPr>
              <a:t>研究问题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9A1B4-1140-894E-BD14-FB78409E3F0C}"/>
              </a:ext>
            </a:extLst>
          </p:cNvPr>
          <p:cNvSpPr txBox="1"/>
          <p:nvPr/>
        </p:nvSpPr>
        <p:spPr>
          <a:xfrm>
            <a:off x="10493990" y="3569459"/>
            <a:ext cx="7211285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/>
              <a:t> </a:t>
            </a:r>
            <a:r>
              <a:rPr lang="en-GB" sz="2400" b="1" dirty="0"/>
              <a:t>batch=1</a:t>
            </a:r>
            <a:r>
              <a:rPr lang="en-GB" sz="2400" dirty="0"/>
              <a:t>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KV Cache </a:t>
            </a:r>
            <a:r>
              <a:rPr lang="zh-CN" altLang="en-US" sz="2400" dirty="0"/>
              <a:t>对单步生成时间提升不明显，甚至略慢 </a:t>
            </a:r>
            <a:r>
              <a:rPr lang="en-US" altLang="zh-CN" sz="2400" dirty="0"/>
              <a:t>(</a:t>
            </a:r>
            <a:r>
              <a:rPr lang="en-GB" sz="2400" dirty="0" err="1"/>
              <a:t>time_speedup</a:t>
            </a:r>
            <a:r>
              <a:rPr lang="en-GB" sz="2400" dirty="0"/>
              <a:t> &lt; 1)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原因：</a:t>
            </a:r>
            <a:r>
              <a:rPr lang="en-GB" sz="2400" dirty="0"/>
              <a:t>batch=1 </a:t>
            </a:r>
            <a:r>
              <a:rPr lang="zh-CN" altLang="en-US" sz="2400" dirty="0"/>
              <a:t>时 </a:t>
            </a:r>
            <a:r>
              <a:rPr lang="en-GB" sz="2400" dirty="0"/>
              <a:t>GPU </a:t>
            </a:r>
            <a:r>
              <a:rPr lang="zh-CN" altLang="en-US" sz="2400" dirty="0"/>
              <a:t>并行效率低，</a:t>
            </a:r>
            <a:r>
              <a:rPr lang="en-GB" sz="2400" dirty="0"/>
              <a:t>KV Cache </a:t>
            </a:r>
            <a:r>
              <a:rPr lang="zh-CN" altLang="en-US" sz="2400" dirty="0"/>
              <a:t>的 </a:t>
            </a:r>
            <a:r>
              <a:rPr lang="en-GB" sz="2400" dirty="0"/>
              <a:t>priming + </a:t>
            </a:r>
            <a:r>
              <a:rPr lang="zh-CN" altLang="en-US" sz="2400" dirty="0"/>
              <a:t>内存管理开销略高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/>
              <a:t> </a:t>
            </a:r>
            <a:r>
              <a:rPr lang="en-GB" sz="2400" b="1" dirty="0"/>
              <a:t>batch=16</a:t>
            </a:r>
            <a:r>
              <a:rPr lang="en-GB" sz="2400" dirty="0"/>
              <a:t>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KV Cache </a:t>
            </a:r>
            <a:r>
              <a:rPr lang="zh-CN" altLang="en-US" sz="2400" dirty="0"/>
              <a:t>显著加速长序列生成：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err="1"/>
              <a:t>seq_len</a:t>
            </a:r>
            <a:r>
              <a:rPr lang="en-GB" sz="2400" dirty="0"/>
              <a:t>=512, speedup≈3.8×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err="1"/>
              <a:t>seq_len</a:t>
            </a:r>
            <a:r>
              <a:rPr lang="en-GB" sz="2400" dirty="0"/>
              <a:t>=1024, speedup≈9.2×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err="1"/>
              <a:t>原因</a:t>
            </a:r>
            <a:r>
              <a:rPr lang="zh-CN" altLang="en-US" sz="2400" dirty="0"/>
              <a:t>：添加</a:t>
            </a:r>
            <a:r>
              <a:rPr lang="en-US" altLang="zh-CN" sz="2400" dirty="0" err="1"/>
              <a:t>kvcache</a:t>
            </a:r>
            <a:r>
              <a:rPr lang="zh-CN" altLang="en-US" sz="2400" dirty="0"/>
              <a:t>，计算复杂度降低</a:t>
            </a:r>
            <a:endParaRPr lang="en-GB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215BFC-3968-5B44-931E-52344CEFED30}"/>
              </a:ext>
            </a:extLst>
          </p:cNvPr>
          <p:cNvSpPr txBox="1"/>
          <p:nvPr/>
        </p:nvSpPr>
        <p:spPr>
          <a:xfrm>
            <a:off x="866152" y="1716175"/>
            <a:ext cx="4301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Per-token inference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1E8C6-184A-0548-898B-3BE152329AED}"/>
              </a:ext>
            </a:extLst>
          </p:cNvPr>
          <p:cNvSpPr txBox="1"/>
          <p:nvPr/>
        </p:nvSpPr>
        <p:spPr>
          <a:xfrm>
            <a:off x="6755683" y="1678059"/>
            <a:ext cx="2537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Time speedup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1CD8946-0B23-2E49-9228-9BCD7D8AB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00" y="0"/>
            <a:ext cx="4419600" cy="149860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66D2B402-AAF3-9740-B160-B49C135BAD8F}"/>
              </a:ext>
            </a:extLst>
          </p:cNvPr>
          <p:cNvSpPr txBox="1"/>
          <p:nvPr/>
        </p:nvSpPr>
        <p:spPr>
          <a:xfrm>
            <a:off x="1188673" y="12422"/>
            <a:ext cx="7955327" cy="111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5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 实验结果分析</a:t>
            </a: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-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存储性能</a:t>
            </a:r>
            <a:endParaRPr lang="en-US" sz="4400" b="1" dirty="0">
              <a:solidFill>
                <a:srgbClr val="2D3880"/>
              </a:solidFill>
              <a:latin typeface="Helvetica" pitchFamily="2" charset="0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02F785-90E8-374B-B949-A6D0523D5B1E}"/>
              </a:ext>
            </a:extLst>
          </p:cNvPr>
          <p:cNvCxnSpPr>
            <a:cxnSpLocks/>
          </p:cNvCxnSpPr>
          <p:nvPr/>
        </p:nvCxnSpPr>
        <p:spPr>
          <a:xfrm>
            <a:off x="-152400" y="1207218"/>
            <a:ext cx="18440400" cy="0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DEB1E8A-9C76-AD4B-B532-09A07A591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74" y="2585781"/>
            <a:ext cx="4345868" cy="32594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5DAA2B-0F02-6647-8722-C8E285DB67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4" y="5880625"/>
            <a:ext cx="4559380" cy="34195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0C389-0021-CF43-B5AD-60FCBA278E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802" y="2745884"/>
            <a:ext cx="4108969" cy="30817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73BC4F-E7F2-D542-AFA6-794639E8D7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801" y="6059158"/>
            <a:ext cx="4108969" cy="30817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9AB23B-035C-CF41-8045-EFFC708792EE}"/>
              </a:ext>
            </a:extLst>
          </p:cNvPr>
          <p:cNvSpPr txBox="1"/>
          <p:nvPr/>
        </p:nvSpPr>
        <p:spPr>
          <a:xfrm>
            <a:off x="2971800" y="1684164"/>
            <a:ext cx="2497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Peak</a:t>
            </a:r>
            <a:r>
              <a:rPr lang="zh-CN" altLang="en-US" sz="3200" dirty="0"/>
              <a:t> </a:t>
            </a:r>
            <a:r>
              <a:rPr lang="en-US" altLang="zh-CN" sz="3200" dirty="0"/>
              <a:t>Memory</a:t>
            </a:r>
            <a:endParaRPr lang="en-US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911C8-C3D0-F047-9C8C-2E16C589B2EA}"/>
              </a:ext>
            </a:extLst>
          </p:cNvPr>
          <p:cNvSpPr txBox="1"/>
          <p:nvPr/>
        </p:nvSpPr>
        <p:spPr>
          <a:xfrm>
            <a:off x="9839266" y="2626286"/>
            <a:ext cx="74951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Helvetica" pitchFamily="2" charset="0"/>
              </a:rPr>
              <a:t>KV Cache </a:t>
            </a:r>
            <a:r>
              <a:rPr lang="zh-CN" altLang="en-US" sz="2400" dirty="0">
                <a:latin typeface="Helvetica" pitchFamily="2" charset="0"/>
              </a:rPr>
              <a:t>的内存占用随序列长度增加的趋势如何</a:t>
            </a:r>
            <a:r>
              <a:rPr lang="en-US" altLang="zh-CN" sz="2400" dirty="0">
                <a:latin typeface="Helvetica" pitchFamily="2" charset="0"/>
              </a:rPr>
              <a:t>?</a:t>
            </a:r>
          </a:p>
          <a:p>
            <a:endParaRPr lang="en-US" sz="2400" dirty="0"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7C1B13-1CA9-6E47-8F4F-AAF0889DDF5B}"/>
              </a:ext>
            </a:extLst>
          </p:cNvPr>
          <p:cNvSpPr txBox="1"/>
          <p:nvPr/>
        </p:nvSpPr>
        <p:spPr>
          <a:xfrm>
            <a:off x="9809529" y="2183604"/>
            <a:ext cx="2757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Helvetica" pitchFamily="2" charset="0"/>
              </a:rPr>
              <a:t>研究问题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D3DF862C-64EF-9144-AE72-E30BF8C027A9}"/>
              </a:ext>
            </a:extLst>
          </p:cNvPr>
          <p:cNvSpPr/>
          <p:nvPr/>
        </p:nvSpPr>
        <p:spPr>
          <a:xfrm>
            <a:off x="8950240" y="2221704"/>
            <a:ext cx="931412" cy="1030388"/>
          </a:xfrm>
          <a:custGeom>
            <a:avLst/>
            <a:gdLst/>
            <a:ahLst/>
            <a:cxnLst/>
            <a:rect l="l" t="t" r="r" b="b"/>
            <a:pathLst>
              <a:path w="1466396" h="1466396">
                <a:moveTo>
                  <a:pt x="0" y="0"/>
                </a:moveTo>
                <a:lnTo>
                  <a:pt x="1466396" y="0"/>
                </a:lnTo>
                <a:lnTo>
                  <a:pt x="1466396" y="1466396"/>
                </a:lnTo>
                <a:lnTo>
                  <a:pt x="0" y="1466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AFEFA-2EA5-DA42-B230-555436034174}"/>
              </a:ext>
            </a:extLst>
          </p:cNvPr>
          <p:cNvSpPr txBox="1"/>
          <p:nvPr/>
        </p:nvSpPr>
        <p:spPr>
          <a:xfrm>
            <a:off x="8696490" y="3247217"/>
            <a:ext cx="8673302" cy="389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 err="1"/>
              <a:t>mem_increase_ratio</a:t>
            </a:r>
            <a:r>
              <a:rPr lang="en-GB" sz="2800" dirty="0"/>
              <a:t> </a:t>
            </a:r>
            <a:r>
              <a:rPr lang="zh-CN" altLang="en-US" sz="2800" dirty="0"/>
              <a:t>为负，</a:t>
            </a:r>
            <a:r>
              <a:rPr lang="en-GB" sz="2800" dirty="0"/>
              <a:t>overall </a:t>
            </a:r>
            <a:r>
              <a:rPr lang="zh-CN" altLang="en-US" sz="2800" dirty="0"/>
              <a:t>峰值 </a:t>
            </a:r>
            <a:r>
              <a:rPr lang="en-GB" sz="2800" dirty="0"/>
              <a:t>KV &lt; no-KV。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原因：生成阶段，无 </a:t>
            </a:r>
            <a:r>
              <a:rPr lang="en-GB" sz="2800" dirty="0"/>
              <a:t>KV </a:t>
            </a:r>
            <a:r>
              <a:rPr lang="zh-CN" altLang="en-US" sz="2800" dirty="0"/>
              <a:t>每步重算全序列，注意力激活 </a:t>
            </a:r>
            <a:r>
              <a:rPr lang="en-GB" sz="2800" dirty="0"/>
              <a:t>O(T²)；KV </a:t>
            </a:r>
            <a:r>
              <a:rPr lang="zh-CN" altLang="en-US" sz="2800" dirty="0"/>
              <a:t>每步只算 </a:t>
            </a:r>
            <a:r>
              <a:rPr lang="en-US" altLang="zh-CN" sz="2800" dirty="0"/>
              <a:t>1 </a:t>
            </a:r>
            <a:r>
              <a:rPr lang="en-GB" sz="2800" dirty="0"/>
              <a:t>token，</a:t>
            </a:r>
            <a:r>
              <a:rPr lang="zh-CN" altLang="en-US" sz="2800" dirty="0"/>
              <a:t>激活 </a:t>
            </a:r>
            <a:r>
              <a:rPr lang="en-GB" sz="2800" dirty="0"/>
              <a:t>O(</a:t>
            </a:r>
            <a:r>
              <a:rPr lang="en-GB" sz="2800" dirty="0" err="1"/>
              <a:t>T·d</a:t>
            </a:r>
            <a:r>
              <a:rPr lang="en-GB" sz="2800" dirty="0"/>
              <a:t>)，</a:t>
            </a:r>
            <a:r>
              <a:rPr lang="zh-CN" altLang="en-US" sz="2800" dirty="0"/>
              <a:t>峰值更低。</a:t>
            </a:r>
            <a:endParaRPr lang="en-GB" altLang="zh-CN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 err="1"/>
              <a:t>mem_breakdown</a:t>
            </a:r>
            <a:r>
              <a:rPr lang="en-GB" sz="2800" dirty="0"/>
              <a:t> </a:t>
            </a:r>
            <a:r>
              <a:rPr lang="zh-CN" altLang="en-US" sz="2800" dirty="0"/>
              <a:t>显示：</a:t>
            </a:r>
            <a:r>
              <a:rPr lang="en-GB" sz="2800" dirty="0"/>
              <a:t>KV priming </a:t>
            </a:r>
            <a:r>
              <a:rPr lang="zh-CN" altLang="en-US" sz="2800" dirty="0"/>
              <a:t>略高（存 </a:t>
            </a:r>
            <a:r>
              <a:rPr lang="en-GB" sz="2800" dirty="0"/>
              <a:t>K/V），</a:t>
            </a:r>
            <a:r>
              <a:rPr lang="zh-CN" altLang="en-US" sz="2800" dirty="0"/>
              <a:t>但生成段大幅低于无 </a:t>
            </a:r>
            <a:r>
              <a:rPr lang="en-GB" sz="2800" dirty="0"/>
              <a:t>KV，</a:t>
            </a:r>
            <a:r>
              <a:rPr lang="zh-CN" altLang="en-US" sz="2800" dirty="0"/>
              <a:t>整体峰值因此下降。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077429-7782-3C49-8CA0-5A6A7B8AC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00" y="0"/>
            <a:ext cx="4419600" cy="1498600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A1E14007-4C69-6E4E-80EE-E0BEAB316500}"/>
              </a:ext>
            </a:extLst>
          </p:cNvPr>
          <p:cNvSpPr txBox="1"/>
          <p:nvPr/>
        </p:nvSpPr>
        <p:spPr>
          <a:xfrm>
            <a:off x="1188673" y="12422"/>
            <a:ext cx="7955327" cy="112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6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 总结</a:t>
            </a:r>
            <a:endParaRPr lang="en-US" sz="4400" b="1" dirty="0">
              <a:solidFill>
                <a:srgbClr val="2D3880"/>
              </a:solidFill>
              <a:latin typeface="Helvetica" pitchFamily="2" charset="0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29AE4F-ACB2-E844-B915-922F74813702}"/>
              </a:ext>
            </a:extLst>
          </p:cNvPr>
          <p:cNvCxnSpPr>
            <a:cxnSpLocks/>
          </p:cNvCxnSpPr>
          <p:nvPr/>
        </p:nvCxnSpPr>
        <p:spPr>
          <a:xfrm>
            <a:off x="-152400" y="1207218"/>
            <a:ext cx="18440400" cy="0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7">
            <a:extLst>
              <a:ext uri="{FF2B5EF4-FFF2-40B4-BE49-F238E27FC236}">
                <a16:creationId xmlns:a16="http://schemas.microsoft.com/office/drawing/2014/main" id="{5AE241BF-469E-8745-B832-A8207FBDE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7448205"/>
            <a:ext cx="9203861" cy="28387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AC0817-D405-F74A-A0A0-01AFDA634291}"/>
              </a:ext>
            </a:extLst>
          </p:cNvPr>
          <p:cNvSpPr txBox="1"/>
          <p:nvPr/>
        </p:nvSpPr>
        <p:spPr>
          <a:xfrm>
            <a:off x="1385859" y="1788854"/>
            <a:ext cx="12264896" cy="5835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b="1" dirty="0"/>
              <a:t>KV Cache </a:t>
            </a:r>
            <a:r>
              <a:rPr lang="zh-CN" altLang="en-US" sz="2800" b="1" dirty="0"/>
              <a:t>对推理速度的影响</a:t>
            </a:r>
            <a:r>
              <a:rPr lang="zh-CN" altLang="en-US" sz="2800" dirty="0"/>
              <a:t>：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/>
              <a:t>小 </a:t>
            </a:r>
            <a:r>
              <a:rPr lang="en-GB" sz="2800" dirty="0"/>
              <a:t>batch </a:t>
            </a:r>
            <a:r>
              <a:rPr lang="zh-CN" altLang="en-US" sz="2800" dirty="0"/>
              <a:t>或短序列：速度提升有限，甚至略慢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/>
              <a:t>大 </a:t>
            </a:r>
            <a:r>
              <a:rPr lang="en-GB" sz="2800" dirty="0"/>
              <a:t>batch + </a:t>
            </a:r>
            <a:r>
              <a:rPr lang="zh-CN" altLang="en-US" sz="2800" dirty="0"/>
              <a:t>长序列：加速效果明显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800" b="1" dirty="0"/>
              <a:t>KV Cache </a:t>
            </a:r>
            <a:r>
              <a:rPr lang="zh-CN" altLang="en-US" sz="2800" b="1" dirty="0"/>
              <a:t>对内存的影响</a:t>
            </a:r>
            <a:r>
              <a:rPr lang="zh-CN" altLang="en-US" sz="2800" dirty="0"/>
              <a:t>：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/>
              <a:t>生成阶段的显存峰值反而低于未使用 </a:t>
            </a:r>
            <a:r>
              <a:rPr lang="en-GB" sz="2800" dirty="0"/>
              <a:t>KV Cache </a:t>
            </a:r>
            <a:r>
              <a:rPr lang="zh-CN" altLang="en-US" sz="2800" dirty="0"/>
              <a:t>的情况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/>
              <a:t>原因是每步仅计算最后一个 </a:t>
            </a:r>
            <a:r>
              <a:rPr lang="en-GB" sz="2800" dirty="0"/>
              <a:t>token </a:t>
            </a:r>
            <a:r>
              <a:rPr lang="zh-CN" altLang="en-US" sz="2800" dirty="0"/>
              <a:t>的注意力，避免了全序列重算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 dirty="0"/>
              <a:t>总体评价</a:t>
            </a:r>
            <a:r>
              <a:rPr lang="zh-CN" altLang="en-US" sz="2800" dirty="0"/>
              <a:t>：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/>
              <a:t>长序列 </a:t>
            </a:r>
            <a:r>
              <a:rPr lang="en-US" altLang="zh-CN" sz="2800" dirty="0"/>
              <a:t>+ </a:t>
            </a:r>
            <a:r>
              <a:rPr lang="zh-CN" altLang="en-US" sz="2800" dirty="0"/>
              <a:t>大 </a:t>
            </a:r>
            <a:r>
              <a:rPr lang="en-GB" sz="2800" dirty="0"/>
              <a:t>batch + </a:t>
            </a:r>
            <a:r>
              <a:rPr lang="zh-CN" altLang="en-US" sz="2800" dirty="0"/>
              <a:t>生成步较多时，时间加速显著；</a:t>
            </a:r>
            <a:endParaRPr lang="en-US" altLang="zh-CN" sz="28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/>
              <a:t>内存方面，</a:t>
            </a:r>
            <a:r>
              <a:rPr lang="en-GB" sz="2800" dirty="0"/>
              <a:t>KV </a:t>
            </a:r>
            <a:r>
              <a:rPr lang="zh-CN" altLang="en-US" sz="2800" dirty="0"/>
              <a:t>会在 </a:t>
            </a:r>
            <a:r>
              <a:rPr lang="en-GB" sz="2800" dirty="0"/>
              <a:t>priming </a:t>
            </a:r>
            <a:r>
              <a:rPr lang="zh-CN" altLang="en-US" sz="2800" dirty="0"/>
              <a:t>多存 </a:t>
            </a:r>
            <a:r>
              <a:rPr lang="en-GB" sz="2800" dirty="0"/>
              <a:t>K/V，</a:t>
            </a:r>
            <a:r>
              <a:rPr lang="zh-CN" altLang="en-US" sz="2800" dirty="0"/>
              <a:t>但生成阶段能显著压低激活占用。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C9E8072-ADA1-DA47-9844-25A9FA86A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00" y="0"/>
            <a:ext cx="4419600" cy="1498600"/>
          </a:xfrm>
          <a:prstGeom prst="rect">
            <a:avLst/>
          </a:prstGeom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EA2F8DDB-2D55-4043-AEDE-C75BDB07CA48}"/>
              </a:ext>
            </a:extLst>
          </p:cNvPr>
          <p:cNvSpPr txBox="1"/>
          <p:nvPr/>
        </p:nvSpPr>
        <p:spPr>
          <a:xfrm>
            <a:off x="1188673" y="12422"/>
            <a:ext cx="7955327" cy="112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7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BTW –  a pretrained model</a:t>
            </a:r>
            <a:endParaRPr lang="en-US" sz="4400" b="1" dirty="0">
              <a:solidFill>
                <a:srgbClr val="2D3880"/>
              </a:solidFill>
              <a:latin typeface="Helvetica" pitchFamily="2" charset="0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CF531F-FD14-4F47-8021-B6A1E3526C44}"/>
              </a:ext>
            </a:extLst>
          </p:cNvPr>
          <p:cNvCxnSpPr>
            <a:cxnSpLocks/>
          </p:cNvCxnSpPr>
          <p:nvPr/>
        </p:nvCxnSpPr>
        <p:spPr>
          <a:xfrm>
            <a:off x="-152400" y="1207218"/>
            <a:ext cx="18440400" cy="0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2">
            <a:extLst>
              <a:ext uri="{FF2B5EF4-FFF2-40B4-BE49-F238E27FC236}">
                <a16:creationId xmlns:a16="http://schemas.microsoft.com/office/drawing/2014/main" id="{C13E0FE0-D383-FB4A-B6C8-64D23FB752A4}"/>
              </a:ext>
            </a:extLst>
          </p:cNvPr>
          <p:cNvGrpSpPr/>
          <p:nvPr/>
        </p:nvGrpSpPr>
        <p:grpSpPr>
          <a:xfrm>
            <a:off x="3" y="3631109"/>
            <a:ext cx="18668997" cy="4167289"/>
            <a:chOff x="-100345" y="-57150"/>
            <a:chExt cx="4916938" cy="1097558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D3E44F77-E20A-2B48-A3D5-2B04987CDD18}"/>
                </a:ext>
              </a:extLst>
            </p:cNvPr>
            <p:cNvSpPr/>
            <p:nvPr/>
          </p:nvSpPr>
          <p:spPr>
            <a:xfrm>
              <a:off x="-100345" y="8280"/>
              <a:ext cx="4816592" cy="1032128"/>
            </a:xfrm>
            <a:custGeom>
              <a:avLst/>
              <a:gdLst/>
              <a:ahLst/>
              <a:cxnLst/>
              <a:rect l="l" t="t" r="r" b="b"/>
              <a:pathLst>
                <a:path w="4816592" h="1032128">
                  <a:moveTo>
                    <a:pt x="0" y="0"/>
                  </a:moveTo>
                  <a:lnTo>
                    <a:pt x="4816592" y="0"/>
                  </a:lnTo>
                  <a:lnTo>
                    <a:pt x="4816592" y="1032128"/>
                  </a:lnTo>
                  <a:lnTo>
                    <a:pt x="0" y="1032128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D0080D40-0835-0F42-B0EF-9CD3863D1371}"/>
                </a:ext>
              </a:extLst>
            </p:cNvPr>
            <p:cNvSpPr txBox="1"/>
            <p:nvPr/>
          </p:nvSpPr>
          <p:spPr>
            <a:xfrm>
              <a:off x="0" y="-57150"/>
              <a:ext cx="4816593" cy="1089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45E0934-F151-594D-A7C0-D73BA1133A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49"/>
          <a:stretch/>
        </p:blipFill>
        <p:spPr>
          <a:xfrm>
            <a:off x="990600" y="2488602"/>
            <a:ext cx="7010400" cy="482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D54A6A-52E0-854D-9635-1185C26CBA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7" y="2641107"/>
            <a:ext cx="9652000" cy="30353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5892F4A-AF2D-9744-91B5-A245319280DA}"/>
              </a:ext>
            </a:extLst>
          </p:cNvPr>
          <p:cNvSpPr txBox="1"/>
          <p:nvPr/>
        </p:nvSpPr>
        <p:spPr>
          <a:xfrm>
            <a:off x="3792081" y="1977476"/>
            <a:ext cx="2081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  KV cache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D13454-8A5C-8C47-A04F-910CB562F794}"/>
              </a:ext>
            </a:extLst>
          </p:cNvPr>
          <p:cNvSpPr txBox="1"/>
          <p:nvPr/>
        </p:nvSpPr>
        <p:spPr>
          <a:xfrm>
            <a:off x="12103862" y="2049929"/>
            <a:ext cx="2307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with  KV cache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9818B0-2709-F144-81BA-8D3D45767D21}"/>
              </a:ext>
            </a:extLst>
          </p:cNvPr>
          <p:cNvSpPr txBox="1"/>
          <p:nvPr/>
        </p:nvSpPr>
        <p:spPr>
          <a:xfrm>
            <a:off x="8615680" y="5735761"/>
            <a:ext cx="5404941" cy="1318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0" i="0" dirty="0">
                <a:solidFill>
                  <a:srgbClr val="363737"/>
                </a:solidFill>
                <a:effectLst/>
                <a:latin typeface="SF Pro Display"/>
              </a:rPr>
              <a:t>Raw</a:t>
            </a:r>
            <a:r>
              <a:rPr lang="zh-CN" altLang="en-US" sz="2800" b="0" i="0" dirty="0">
                <a:solidFill>
                  <a:srgbClr val="363737"/>
                </a:solidFill>
                <a:effectLst/>
                <a:latin typeface="SF Pro Display"/>
              </a:rPr>
              <a:t> </a:t>
            </a:r>
            <a:r>
              <a:rPr lang="en-US" altLang="zh-CN" sz="2800" b="0" i="0" dirty="0">
                <a:solidFill>
                  <a:srgbClr val="363737"/>
                </a:solidFill>
                <a:effectLst/>
                <a:latin typeface="SF Pro Display"/>
              </a:rPr>
              <a:t>model</a:t>
            </a:r>
            <a:r>
              <a:rPr lang="zh-CN" altLang="en-US" sz="2800" b="0" i="0" dirty="0">
                <a:solidFill>
                  <a:srgbClr val="363737"/>
                </a:solidFill>
                <a:effectLst/>
                <a:latin typeface="SF Pro Display"/>
              </a:rPr>
              <a:t> ；</a:t>
            </a:r>
            <a:r>
              <a:rPr lang="en-GB" sz="2800" b="0" i="0" dirty="0">
                <a:solidFill>
                  <a:srgbClr val="363737"/>
                </a:solidFill>
                <a:effectLst/>
                <a:latin typeface="SF Pro Display"/>
              </a:rPr>
              <a:t>generates "gibberish”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rgbClr val="363737"/>
                </a:solidFill>
                <a:latin typeface="SF Pro Display"/>
              </a:rPr>
              <a:t>Pretrained model: differ</a:t>
            </a:r>
            <a:endParaRPr lang="en-US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8A4F4F-D5B9-0948-9731-C3713B985EF0}"/>
              </a:ext>
            </a:extLst>
          </p:cNvPr>
          <p:cNvSpPr txBox="1"/>
          <p:nvPr/>
        </p:nvSpPr>
        <p:spPr>
          <a:xfrm>
            <a:off x="8610600" y="7084082"/>
            <a:ext cx="6458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Helvetica" pitchFamily="2" charset="0"/>
              </a:rPr>
              <a:t>原因</a:t>
            </a:r>
            <a:r>
              <a:rPr lang="zh-CN" altLang="en-US" sz="2800" dirty="0">
                <a:latin typeface="Helvetica" pitchFamily="2" charset="0"/>
              </a:rPr>
              <a:t>：</a:t>
            </a:r>
            <a:r>
              <a:rPr lang="en-US" sz="2800" dirty="0" err="1">
                <a:latin typeface="Helvetica" pitchFamily="2" charset="0"/>
              </a:rPr>
              <a:t>绝对位置编码</a:t>
            </a:r>
            <a:r>
              <a:rPr lang="zh-CN" altLang="en-US" sz="2800" dirty="0">
                <a:latin typeface="Helvetica" pitchFamily="2" charset="0"/>
              </a:rPr>
              <a:t> </a:t>
            </a:r>
            <a:r>
              <a:rPr lang="en-US" altLang="zh-CN" sz="2800" dirty="0">
                <a:latin typeface="Helvetica" pitchFamily="2" charset="0"/>
              </a:rPr>
              <a:t>fix-&gt; </a:t>
            </a:r>
            <a:r>
              <a:rPr lang="zh-CN" altLang="en-GB" sz="2800" dirty="0">
                <a:latin typeface="Helvetica" pitchFamily="2" charset="0"/>
              </a:rPr>
              <a:t>相对</a:t>
            </a:r>
            <a:r>
              <a:rPr lang="zh-CN" altLang="en-US" sz="2800" dirty="0">
                <a:latin typeface="Helvetica" pitchFamily="2" charset="0"/>
              </a:rPr>
              <a:t>位置编码</a:t>
            </a:r>
            <a:endParaRPr lang="en-US" sz="28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648C9FA-2D52-1A40-936C-A5FA333FB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00" y="0"/>
            <a:ext cx="4419600" cy="149860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6D2D055E-3AD0-1844-8B41-D301D2C09D8D}"/>
              </a:ext>
            </a:extLst>
          </p:cNvPr>
          <p:cNvSpPr txBox="1"/>
          <p:nvPr/>
        </p:nvSpPr>
        <p:spPr>
          <a:xfrm>
            <a:off x="1188673" y="12422"/>
            <a:ext cx="7955327" cy="112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8</a:t>
            </a:r>
            <a:r>
              <a:rPr lang="zh-CN" altLang="en-US" sz="4400" b="1" dirty="0">
                <a:solidFill>
                  <a:srgbClr val="2D3880"/>
                </a:solidFill>
                <a:latin typeface="Helvetica" pitchFamily="2" charset="0"/>
                <a:ea typeface="Cormorant Garamond Bold Italics"/>
                <a:cs typeface="Cormorant Garamond Bold Italics"/>
                <a:sym typeface="Cormorant Garamond Bold Italics"/>
              </a:rPr>
              <a:t> 参考资料</a:t>
            </a:r>
            <a:endParaRPr lang="en-US" sz="4400" b="1" dirty="0">
              <a:solidFill>
                <a:srgbClr val="2D3880"/>
              </a:solidFill>
              <a:latin typeface="Helvetica" pitchFamily="2" charset="0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35A052-1A7D-6E4D-A826-BD98193D9EF4}"/>
              </a:ext>
            </a:extLst>
          </p:cNvPr>
          <p:cNvCxnSpPr>
            <a:cxnSpLocks/>
          </p:cNvCxnSpPr>
          <p:nvPr/>
        </p:nvCxnSpPr>
        <p:spPr>
          <a:xfrm>
            <a:off x="-152400" y="1207218"/>
            <a:ext cx="18440400" cy="0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274A4B-5845-E34C-9C93-C398C4DF4803}"/>
              </a:ext>
            </a:extLst>
          </p:cNvPr>
          <p:cNvSpPr txBox="1"/>
          <p:nvPr/>
        </p:nvSpPr>
        <p:spPr>
          <a:xfrm>
            <a:off x="1371601" y="1790699"/>
            <a:ext cx="15773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[1] </a:t>
            </a:r>
            <a:r>
              <a:rPr lang="en-GB" sz="2000" b="1" i="0" dirty="0">
                <a:solidFill>
                  <a:srgbClr val="242424"/>
                </a:solidFill>
                <a:effectLst/>
                <a:latin typeface="sohne"/>
              </a:rPr>
              <a:t>KV Caching from Scratch — </a:t>
            </a:r>
            <a:r>
              <a:rPr lang="en-GB" sz="2000" b="1" i="0" dirty="0" err="1">
                <a:solidFill>
                  <a:srgbClr val="242424"/>
                </a:solidFill>
                <a:effectLst/>
                <a:latin typeface="sohne"/>
              </a:rPr>
              <a:t>Pytorch</a:t>
            </a:r>
            <a:r>
              <a:rPr lang="en-GB" sz="2000" b="1" dirty="0">
                <a:solidFill>
                  <a:srgbClr val="242424"/>
                </a:solidFill>
                <a:latin typeface="sohne"/>
              </a:rPr>
              <a:t>: </a:t>
            </a:r>
            <a:r>
              <a:rPr lang="en-US" sz="2000" dirty="0">
                <a:hlinkClick r:id="rId4"/>
              </a:rPr>
              <a:t>https://medium.com/@alishafique3/kv-caching-from-scratch-pytorch-5743ddcdc176</a:t>
            </a:r>
            <a:endParaRPr lang="en-US" sz="2000" dirty="0"/>
          </a:p>
          <a:p>
            <a:r>
              <a:rPr lang="en-US" sz="2000" dirty="0"/>
              <a:t>[2] </a:t>
            </a:r>
            <a:r>
              <a:rPr lang="en-GB" sz="2000" b="1" i="0" u="none" strike="noStrike" dirty="0">
                <a:solidFill>
                  <a:srgbClr val="232333"/>
                </a:solidFill>
                <a:effectLst/>
                <a:latin typeface="Roboto Mono" panose="020F0502020204030204" pitchFamily="34" charset="0"/>
                <a:hlinkClick r:id="rId5"/>
              </a:rPr>
              <a:t>Eternal Journal</a:t>
            </a:r>
            <a:r>
              <a:rPr lang="en-GB" sz="2000" b="1" dirty="0">
                <a:solidFill>
                  <a:srgbClr val="232333"/>
                </a:solidFill>
                <a:latin typeface="Roboto Mono" panose="020F0502020204030204" pitchFamily="34" charset="0"/>
              </a:rPr>
              <a:t>-</a:t>
            </a:r>
            <a:r>
              <a:rPr lang="en-GB" sz="2000" b="1" i="0" u="none" strike="noStrike" dirty="0">
                <a:solidFill>
                  <a:srgbClr val="232333"/>
                </a:solidFill>
                <a:effectLst/>
                <a:latin typeface="Roboto Mono" panose="020F0502020204030204" pitchFamily="34" charset="0"/>
              </a:rPr>
              <a:t> </a:t>
            </a:r>
            <a:r>
              <a:rPr lang="en-GB" sz="2000" b="1" i="0" dirty="0">
                <a:solidFill>
                  <a:srgbClr val="232333"/>
                </a:solidFill>
                <a:effectLst/>
                <a:latin typeface="Roboto Mono" panose="020F0502020204030204" pitchFamily="34" charset="0"/>
              </a:rPr>
              <a:t>Vision Transformer ...1:</a:t>
            </a:r>
            <a:r>
              <a:rPr lang="en-US" sz="2000" dirty="0">
                <a:hlinkClick r:id="rId6"/>
              </a:rPr>
              <a:t>https://vasudev.bearblog.dev/vision-transformer-1/</a:t>
            </a:r>
            <a:endParaRPr lang="en-US" sz="2000" dirty="0"/>
          </a:p>
          <a:p>
            <a:r>
              <a:rPr lang="en-US" sz="2000" dirty="0"/>
              <a:t>[3] </a:t>
            </a:r>
            <a:r>
              <a:rPr lang="en-US" sz="2000" dirty="0">
                <a:hlinkClick r:id="rId7"/>
              </a:rPr>
              <a:t>https://github.com/rasbt/LLMs-from-scratch/blob/main/ch04/03_kv-cache/</a:t>
            </a:r>
            <a:endParaRPr lang="en-US" sz="2000" dirty="0"/>
          </a:p>
          <a:p>
            <a:r>
              <a:rPr lang="en-US" sz="2000" dirty="0"/>
              <a:t>[4] </a:t>
            </a:r>
            <a:r>
              <a:rPr lang="en-US" sz="2000" dirty="0">
                <a:hlinkClick r:id="rId8"/>
              </a:rPr>
              <a:t>https://github.com/alishafique3/KV-Caching-From-Scratch-Pytorch</a:t>
            </a:r>
            <a:endParaRPr lang="en-US" sz="2000" dirty="0"/>
          </a:p>
          <a:p>
            <a:pPr algn="l"/>
            <a:r>
              <a:rPr lang="en-US" sz="2000" dirty="0"/>
              <a:t>[5] </a:t>
            </a:r>
            <a:r>
              <a:rPr lang="en-GB" sz="2000" b="1" dirty="0">
                <a:solidFill>
                  <a:srgbClr val="363737"/>
                </a:solidFill>
                <a:effectLst/>
                <a:latin typeface="SF Pro Display"/>
              </a:rPr>
              <a:t>Understanding and Coding the KV Cache in LLMs from Scratch(</a:t>
            </a:r>
            <a:r>
              <a:rPr lang="en-GB" sz="2000" b="0" i="0" cap="all" dirty="0">
                <a:effectLst/>
                <a:latin typeface="SF Compact"/>
                <a:hlinkClick r:id="rId9"/>
              </a:rPr>
              <a:t>Sebastian Raschka, PhD</a:t>
            </a:r>
            <a:r>
              <a:rPr lang="en-GB" sz="2000" b="0" i="0" cap="all" dirty="0">
                <a:effectLst/>
                <a:latin typeface="SF Compact"/>
              </a:rPr>
              <a:t>) </a:t>
            </a:r>
            <a:r>
              <a:rPr lang="en-GB" sz="2000" b="1" dirty="0">
                <a:solidFill>
                  <a:srgbClr val="363737"/>
                </a:solidFill>
                <a:effectLst/>
                <a:latin typeface="SF Pro Display"/>
              </a:rPr>
              <a:t>:</a:t>
            </a:r>
          </a:p>
          <a:p>
            <a:pPr algn="l"/>
            <a:r>
              <a:rPr lang="en-US" sz="2000" dirty="0">
                <a:hlinkClick r:id="rId10"/>
              </a:rPr>
              <a:t>https://magazine.sebastianraschka.com/p/coding-the-kv-cache-in-llms</a:t>
            </a:r>
            <a:endParaRPr lang="en-US" sz="2000" dirty="0"/>
          </a:p>
          <a:p>
            <a:r>
              <a:rPr lang="en-US" sz="2000" dirty="0"/>
              <a:t>[6] </a:t>
            </a:r>
            <a:r>
              <a:rPr lang="en-US" sz="2000" dirty="0">
                <a:hlinkClick r:id="rId11"/>
              </a:rPr>
              <a:t>https://discuss.huggingface.co/t/past-key-values-why-not-past-key-values-queries/31941</a:t>
            </a:r>
            <a:endParaRPr lang="en-US" sz="2000" dirty="0"/>
          </a:p>
          <a:p>
            <a:r>
              <a:rPr lang="en-US" sz="2000" dirty="0"/>
              <a:t>[7]</a:t>
            </a:r>
            <a:r>
              <a:rPr lang="en-US" sz="2000" dirty="0" err="1"/>
              <a:t>nanoGPT</a:t>
            </a:r>
            <a:r>
              <a:rPr lang="en-US" sz="2000" dirty="0"/>
              <a:t>: https://</a:t>
            </a:r>
            <a:r>
              <a:rPr lang="en-US" sz="2000" dirty="0" err="1"/>
              <a:t>github.com</a:t>
            </a:r>
            <a:r>
              <a:rPr lang="en-US" sz="2000" dirty="0"/>
              <a:t>/</a:t>
            </a:r>
            <a:r>
              <a:rPr lang="en-US" sz="2000" dirty="0" err="1"/>
              <a:t>karpathy</a:t>
            </a:r>
            <a:r>
              <a:rPr lang="en-US" sz="2000" dirty="0"/>
              <a:t>/</a:t>
            </a:r>
            <a:r>
              <a:rPr lang="en-US" sz="2000" dirty="0" err="1"/>
              <a:t>nanoGPT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933505-6E87-5747-931E-EF40047983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388" y="8400371"/>
            <a:ext cx="2364762" cy="1492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C4FF3F-4549-504B-9BEE-D3AF70F0210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86" b="34748"/>
          <a:stretch/>
        </p:blipFill>
        <p:spPr>
          <a:xfrm>
            <a:off x="12757150" y="8527332"/>
            <a:ext cx="5435600" cy="12388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753600" y="5143500"/>
            <a:ext cx="6400800" cy="2066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6810"/>
              </a:lnSpc>
            </a:pPr>
            <a:r>
              <a:rPr lang="en-US" sz="12007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53600" y="7143554"/>
            <a:ext cx="3922628" cy="539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97"/>
              </a:lnSpc>
              <a:spcBef>
                <a:spcPct val="0"/>
              </a:spcBef>
            </a:pPr>
            <a:r>
              <a:rPr lang="en-US" sz="3141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12 December, 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F0D562-2051-1947-8B2C-50CE3D5DA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4066371"/>
            <a:ext cx="4419600" cy="1498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9E70D6-562D-0C43-8C58-EC6BE0E38C3C}"/>
              </a:ext>
            </a:extLst>
          </p:cNvPr>
          <p:cNvSpPr txBox="1"/>
          <p:nvPr/>
        </p:nvSpPr>
        <p:spPr>
          <a:xfrm>
            <a:off x="9753600" y="7685430"/>
            <a:ext cx="6108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MyWork</a:t>
            </a:r>
            <a:r>
              <a:rPr lang="zh-CN" altLang="en-US" dirty="0"/>
              <a:t>：</a:t>
            </a: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baazinga</a:t>
            </a:r>
            <a:r>
              <a:rPr lang="en-US" altLang="zh-CN" dirty="0"/>
              <a:t>/</a:t>
            </a:r>
            <a:r>
              <a:rPr lang="en-US" altLang="zh-CN" dirty="0" err="1"/>
              <a:t>nanoGPT-withKVcache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933</Words>
  <Application>Microsoft Macintosh PowerPoint</Application>
  <PresentationFormat>Custom</PresentationFormat>
  <Paragraphs>132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Cormorant Garamond Bold Italics</vt:lpstr>
      <vt:lpstr>Calibri</vt:lpstr>
      <vt:lpstr>Cambria Math</vt:lpstr>
      <vt:lpstr>Glacial Indifference</vt:lpstr>
      <vt:lpstr>Arial</vt:lpstr>
      <vt:lpstr>SF Pro Display</vt:lpstr>
      <vt:lpstr>sohne</vt:lpstr>
      <vt:lpstr>Helvetica</vt:lpstr>
      <vt:lpstr>Roboto Mono</vt:lpstr>
      <vt:lpstr>SF Compact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Purple Simple Research Proposal Presentation</dc:title>
  <cp:lastModifiedBy>Microsoft Office User</cp:lastModifiedBy>
  <cp:revision>14</cp:revision>
  <dcterms:created xsi:type="dcterms:W3CDTF">2006-08-16T00:00:00Z</dcterms:created>
  <dcterms:modified xsi:type="dcterms:W3CDTF">2025-12-12T01:17:30Z</dcterms:modified>
  <dc:identifier>DAG7M9AGAQ4</dc:identifier>
</cp:coreProperties>
</file>